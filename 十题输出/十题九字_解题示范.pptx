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1905000"/>
            <a:ext cx="1092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/>
              <a:t>AI</a:t>
            </a:r>
            <a:r>
              <a:rPr lang="zh-CN" altLang="en-US" sz="3600" b="1"/>
              <a:t>学生</a:t>
            </a:r>
            <a:r>
              <a:rPr lang="en-US" altLang="zh-CN" sz="3600" b="1"/>
              <a:t> · </a:t>
            </a:r>
            <a:r>
              <a:rPr lang="zh-CN" altLang="en-US" sz="3600" b="1"/>
              <a:t>十题九字解题示范</a:t>
            </a:r>
            <a:endParaRPr lang="zh-CN" altLang="en-US" sz="3600" b="1"/>
          </a:p>
        </p:txBody>
      </p:sp>
      <p:sp>
        <p:nvSpPr>
          <p:cNvPr id="3" name="文本框 2"/>
          <p:cNvSpPr txBox="1"/>
          <p:nvPr/>
        </p:nvSpPr>
        <p:spPr>
          <a:xfrm>
            <a:off x="635000" y="3556000"/>
            <a:ext cx="1092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必修一</a:t>
            </a:r>
            <a:r>
              <a:rPr lang="en-US" altLang="zh-CN"/>
              <a:t> </a:t>
            </a:r>
            <a:r>
              <a:rPr lang="zh-CN" altLang="en-US"/>
              <a:t>第一、二章</a:t>
            </a:r>
            <a:r>
              <a:rPr lang="en-US" altLang="zh-CN"/>
              <a:t> · </a:t>
            </a:r>
            <a:r>
              <a:rPr lang="zh-CN" altLang="en-US"/>
              <a:t>九字真言</a:t>
            </a:r>
            <a:r>
              <a:rPr lang="en-US" altLang="zh-CN"/>
              <a:t>(</a:t>
            </a:r>
            <a:r>
              <a:rPr lang="zh-CN" altLang="en-US"/>
              <a:t>删解秒分合列推创造</a:t>
            </a:r>
            <a:r>
              <a:rPr lang="en-US" altLang="zh-CN"/>
              <a:t>) + DeepSeek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T01  </a:t>
            </a:r>
            <a:r>
              <a:rPr lang="zh-CN" altLang="en-US" sz="2400" b="1"/>
              <a:t>位移与路程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题目：某人从</a:t>
            </a:r>
            <a:r>
              <a:rPr lang="en-US" altLang="zh-CN" sz="1200"/>
              <a:t> A </a:t>
            </a:r>
            <a:r>
              <a:rPr lang="zh-CN" altLang="en-US" sz="1200"/>
              <a:t>点出发向东走</a:t>
            </a:r>
            <a:r>
              <a:rPr lang="en-US" altLang="zh-CN" sz="1200"/>
              <a:t> 40 m </a:t>
            </a:r>
            <a:r>
              <a:rPr lang="zh-CN" altLang="en-US" sz="1200"/>
              <a:t>到达</a:t>
            </a:r>
            <a:r>
              <a:rPr lang="en-US" altLang="zh-CN" sz="1200"/>
              <a:t> B </a:t>
            </a:r>
            <a:r>
              <a:rPr lang="zh-CN" altLang="en-US" sz="1200"/>
              <a:t>点，接着向北走</a:t>
            </a:r>
            <a:r>
              <a:rPr lang="en-US" altLang="zh-CN" sz="1200"/>
              <a:t> 30 m </a:t>
            </a:r>
            <a:r>
              <a:rPr lang="zh-CN" altLang="en-US" sz="1200"/>
              <a:t>到达</a:t>
            </a:r>
            <a:r>
              <a:rPr lang="en-US" altLang="zh-CN" sz="1200"/>
              <a:t> C </a:t>
            </a:r>
            <a:r>
              <a:rPr lang="zh-CN" altLang="en-US" sz="1200"/>
              <a:t>点。求：</a:t>
            </a:r>
            <a:r>
              <a:rPr lang="en-US" altLang="zh-CN" sz="1200"/>
              <a:t>(1) </a:t>
            </a:r>
            <a:r>
              <a:rPr lang="zh-CN" altLang="en-US" sz="1200"/>
              <a:t>全过程的路程；</a:t>
            </a:r>
            <a:r>
              <a:rPr lang="en-US" altLang="zh-CN" sz="1200"/>
              <a:t>(2) </a:t>
            </a:r>
            <a:r>
              <a:rPr lang="zh-CN" altLang="en-US" sz="1200"/>
              <a:t>全过程位移的大小和方向。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【读题】已知从</a:t>
            </a:r>
            <a:r>
              <a:rPr lang="en-US" altLang="zh-CN" sz="1200"/>
              <a:t> A </a:t>
            </a:r>
            <a:r>
              <a:rPr lang="zh-CN" altLang="en-US" sz="1200"/>
              <a:t>向东走</a:t>
            </a:r>
            <a:r>
              <a:rPr lang="en-US" altLang="zh-CN" sz="1200"/>
              <a:t> 40 m </a:t>
            </a:r>
            <a:r>
              <a:rPr lang="zh-CN" altLang="en-US" sz="1200"/>
              <a:t>到</a:t>
            </a:r>
            <a:r>
              <a:rPr lang="en-US" altLang="zh-CN" sz="1200"/>
              <a:t> B</a:t>
            </a:r>
            <a:r>
              <a:rPr lang="zh-CN" altLang="en-US" sz="1200"/>
              <a:t>，再向北走</a:t>
            </a:r>
            <a:r>
              <a:rPr lang="en-US" altLang="zh-CN" sz="1200"/>
              <a:t> 30 m </a:t>
            </a:r>
            <a:r>
              <a:rPr lang="zh-CN" altLang="en-US" sz="1200"/>
              <a:t>到</a:t>
            </a:r>
            <a:r>
              <a:rPr lang="en-US" altLang="zh-CN" sz="1200"/>
              <a:t> C</a:t>
            </a:r>
            <a:r>
              <a:rPr lang="zh-CN" altLang="en-US" sz="1200"/>
              <a:t>，求全过程路程和位移大小、方向。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</a:t>
            </a:r>
            <a:r>
              <a:rPr lang="zh-CN" altLang="en-US" sz="1200"/>
              <a:t>东向位移</a:t>
            </a:r>
            <a:r>
              <a:rPr lang="en-US" altLang="zh-CN" sz="1200"/>
              <a:t> x=40 m</a:t>
            </a:r>
            <a:r>
              <a:rPr lang="zh-CN" altLang="en-US" sz="1200"/>
              <a:t>、北向位移</a:t>
            </a:r>
            <a:r>
              <a:rPr lang="en-US" altLang="zh-CN" sz="1200"/>
              <a:t> y=30 m</a:t>
            </a:r>
            <a:r>
              <a:rPr lang="zh-CN" altLang="en-US" sz="1200"/>
              <a:t>（把文字转成量，转完即删）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路程</a:t>
            </a:r>
            <a:r>
              <a:rPr lang="en-US" altLang="zh-CN" sz="1200"/>
              <a:t> s=40+30=70 m</a:t>
            </a:r>
            <a:r>
              <a:rPr lang="zh-CN" altLang="en-US" sz="1200"/>
              <a:t>；位移大小</a:t>
            </a:r>
            <a:r>
              <a:rPr lang="en-US" altLang="zh-CN" sz="1200"/>
              <a:t> AC=√(40²+30²)=√2500=50 m</a:t>
            </a:r>
            <a:r>
              <a:rPr lang="zh-CN" altLang="en-US" sz="1200"/>
              <a:t>；方向</a:t>
            </a:r>
            <a:r>
              <a:rPr lang="en-US" altLang="zh-CN" sz="1200"/>
              <a:t> tanθ=30/40=0.75</a:t>
            </a:r>
            <a:r>
              <a:rPr lang="zh-CN" altLang="en-US" sz="1200"/>
              <a:t>，</a:t>
            </a:r>
            <a:r>
              <a:rPr lang="en-US" altLang="zh-CN" sz="1200"/>
              <a:t>θ=37</a:t>
            </a:r>
            <a:r>
              <a:rPr lang="zh-CN" altLang="en-US" sz="1200"/>
              <a:t>°，即东偏北</a:t>
            </a:r>
            <a:r>
              <a:rPr lang="en-US" altLang="zh-CN" sz="1200"/>
              <a:t> 37</a:t>
            </a:r>
            <a:r>
              <a:rPr lang="zh-CN" altLang="en-US" sz="1200"/>
              <a:t>°（或北偏东</a:t>
            </a:r>
            <a:r>
              <a:rPr lang="en-US" altLang="zh-CN" sz="1200"/>
              <a:t> 53</a:t>
            </a:r>
            <a:r>
              <a:rPr lang="zh-CN" altLang="en-US" sz="1200"/>
              <a:t>°）（知三求二：知两段位移大小与夹角</a:t>
            </a:r>
            <a:r>
              <a:rPr lang="en-US" altLang="zh-CN" sz="1200"/>
              <a:t> 90</a:t>
            </a:r>
            <a:r>
              <a:rPr lang="zh-CN" altLang="en-US" sz="1200"/>
              <a:t>°，求合位移）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根据勾股定理可得</a:t>
            </a:r>
            <a:r>
              <a:rPr lang="en-US" altLang="zh-CN" sz="1200"/>
              <a:t> AC²=AB²+BC²</a:t>
            </a:r>
            <a:r>
              <a:rPr lang="zh-CN" altLang="en-US" sz="1200"/>
              <a:t>，故</a:t>
            </a:r>
            <a:r>
              <a:rPr lang="en-US" altLang="zh-CN" sz="1200"/>
              <a:t> AC=√(40²+30²)=50 m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归为</a:t>
            </a:r>
            <a:r>
              <a:rPr lang="en-US" altLang="zh-CN" sz="1200"/>
              <a:t>“</a:t>
            </a:r>
            <a:r>
              <a:rPr lang="zh-CN" altLang="en-US" sz="1200"/>
              <a:t>位移合成模型</a:t>
            </a:r>
            <a:r>
              <a:rPr lang="en-US" altLang="zh-CN" sz="1200"/>
              <a:t>”</a:t>
            </a:r>
            <a:r>
              <a:rPr lang="zh-CN" altLang="en-US" sz="1200"/>
              <a:t>：两段互相垂直的直线运动，合位移用矢量三角形求。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器材：卷尺、粉笔、直角三角板。步骤：在操场先向东量</a:t>
            </a:r>
            <a:r>
              <a:rPr lang="en-US" altLang="zh-CN" sz="1200"/>
              <a:t> 40 m </a:t>
            </a:r>
            <a:r>
              <a:rPr lang="zh-CN" altLang="en-US" sz="1200"/>
              <a:t>做标记，再向北量</a:t>
            </a:r>
            <a:r>
              <a:rPr lang="en-US" altLang="zh-CN" sz="1200"/>
              <a:t> 30 m </a:t>
            </a:r>
            <a:r>
              <a:rPr lang="zh-CN" altLang="en-US" sz="1200"/>
              <a:t>做标记；用卷尺量起点到终点距离，预期约</a:t>
            </a:r>
            <a:r>
              <a:rPr lang="en-US" altLang="zh-CN" sz="1200"/>
              <a:t> 50 m</a:t>
            </a:r>
            <a:r>
              <a:rPr lang="zh-CN" altLang="en-US" sz="1200"/>
              <a:t>；用量角器量方向，预期约东偏北</a:t>
            </a:r>
            <a:r>
              <a:rPr lang="en-US" altLang="zh-CN" sz="1200"/>
              <a:t> 37</a:t>
            </a:r>
            <a:r>
              <a:rPr lang="zh-CN" altLang="en-US" sz="1200"/>
              <a:t>°。</a:t>
            </a:r>
            <a:r>
              <a:rPr lang="en-US" altLang="zh-CN" sz="1200"/>
              <a:t>
</a:t>
            </a:r>
            <a:r>
              <a:rPr lang="zh-CN" altLang="en-US" sz="1200"/>
              <a:t>【答案】</a:t>
            </a:r>
            <a:r>
              <a:rPr lang="en-US" altLang="zh-CN" sz="1200"/>
              <a:t>(1) </a:t>
            </a:r>
            <a:r>
              <a:rPr lang="zh-CN" altLang="en-US" sz="1200"/>
              <a:t>路程为</a:t>
            </a:r>
            <a:r>
              <a:rPr lang="en-US" altLang="zh-CN" sz="1200"/>
              <a:t> 70 m</a:t>
            </a:r>
            <a:r>
              <a:rPr lang="zh-CN" altLang="en-US" sz="1200"/>
              <a:t>；</a:t>
            </a:r>
            <a:r>
              <a:rPr lang="en-US" altLang="zh-CN" sz="1200"/>
              <a:t>(2) </a:t>
            </a:r>
            <a:r>
              <a:rPr lang="zh-CN" altLang="en-US" sz="1200"/>
              <a:t>位移大小为</a:t>
            </a:r>
            <a:r>
              <a:rPr lang="en-US" altLang="zh-CN" sz="1200"/>
              <a:t> 50 m</a:t>
            </a:r>
            <a:r>
              <a:rPr lang="zh-CN" altLang="en-US" sz="1200"/>
              <a:t>，方向为东偏北</a:t>
            </a:r>
            <a:r>
              <a:rPr lang="en-US" altLang="zh-CN" sz="1200"/>
              <a:t> 37</a:t>
            </a:r>
            <a:r>
              <a:rPr lang="zh-CN" altLang="en-US" sz="1200"/>
              <a:t>°（或北偏东</a:t>
            </a:r>
            <a:r>
              <a:rPr lang="en-US" altLang="zh-CN" sz="1200"/>
              <a:t> 53</a:t>
            </a:r>
            <a:r>
              <a:rPr lang="zh-CN" altLang="en-US" sz="1200"/>
              <a:t>°）。</a:t>
            </a:r>
            <a:r>
              <a:rPr lang="en-US" altLang="zh-CN" sz="1200"/>
              <a:t>
</a:t>
            </a:r>
            <a:r>
              <a:rPr lang="zh-CN" altLang="en-US" sz="1200"/>
              <a:t>【自检】①量纲检查：</a:t>
            </a:r>
            <a:r>
              <a:rPr lang="en-US" altLang="zh-CN" sz="1200"/>
              <a:t>40 m</a:t>
            </a:r>
            <a:r>
              <a:rPr lang="zh-CN" altLang="en-US" sz="1200"/>
              <a:t>、</a:t>
            </a:r>
            <a:r>
              <a:rPr lang="en-US" altLang="zh-CN" sz="1200"/>
              <a:t>30 m</a:t>
            </a:r>
            <a:r>
              <a:rPr lang="zh-CN" altLang="en-US" sz="1200"/>
              <a:t>、</a:t>
            </a:r>
            <a:r>
              <a:rPr lang="en-US" altLang="zh-CN" sz="1200"/>
              <a:t>50 m </a:t>
            </a:r>
            <a:r>
              <a:rPr lang="zh-CN" altLang="en-US" sz="1200"/>
              <a:t>均为长度量纲，一致；②回代验算：</a:t>
            </a:r>
            <a:r>
              <a:rPr lang="en-US" altLang="zh-CN" sz="1200"/>
              <a:t>50²=2500=40²+30²</a:t>
            </a:r>
            <a:r>
              <a:rPr lang="zh-CN" altLang="en-US" sz="1200"/>
              <a:t>，成立；③陷阱检查：本题问</a:t>
            </a:r>
            <a:r>
              <a:rPr lang="en-US" altLang="zh-CN" sz="1200"/>
              <a:t>“</a:t>
            </a:r>
            <a:r>
              <a:rPr lang="zh-CN" altLang="en-US" sz="1200"/>
              <a:t>全过程</a:t>
            </a:r>
            <a:r>
              <a:rPr lang="en-US" altLang="zh-CN" sz="1200"/>
              <a:t>”</a:t>
            </a:r>
            <a:r>
              <a:rPr lang="zh-CN" altLang="en-US" sz="1200"/>
              <a:t>，路程取两段实际路径之和</a:t>
            </a:r>
            <a:r>
              <a:rPr lang="en-US" altLang="zh-CN" sz="1200"/>
              <a:t> 70 m</a:t>
            </a:r>
            <a:r>
              <a:rPr lang="zh-CN" altLang="en-US" sz="1200"/>
              <a:t>，位移取起点</a:t>
            </a:r>
            <a:r>
              <a:rPr lang="en-US" altLang="zh-CN" sz="1200"/>
              <a:t> A </a:t>
            </a:r>
            <a:r>
              <a:rPr lang="zh-CN" altLang="en-US" sz="1200"/>
              <a:t>到终点</a:t>
            </a:r>
            <a:r>
              <a:rPr lang="en-US" altLang="zh-CN" sz="1200"/>
              <a:t> C </a:t>
            </a:r>
            <a:r>
              <a:rPr lang="zh-CN" altLang="en-US" sz="1200"/>
              <a:t>的直线距离</a:t>
            </a:r>
            <a:r>
              <a:rPr lang="en-US" altLang="zh-CN" sz="1200"/>
              <a:t> 50 m</a:t>
            </a:r>
            <a:r>
              <a:rPr lang="zh-CN" altLang="en-US" sz="1200"/>
              <a:t>，未把路程误当位移。</a:t>
            </a:r>
            <a:endParaRPr lang="zh-CN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T02  </a:t>
            </a:r>
            <a:r>
              <a:rPr lang="zh-CN" altLang="en-US" sz="2400" b="1"/>
              <a:t>平均速度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6554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题目：一辆汽车沿直线从甲地驶向乙地，前一半路程的平均速度为</a:t>
            </a:r>
            <a:r>
              <a:rPr lang="en-US" altLang="zh-CN" sz="1200"/>
              <a:t> 20 m/s</a:t>
            </a:r>
            <a:r>
              <a:rPr lang="zh-CN" altLang="en-US" sz="1200"/>
              <a:t>，后一半路程的平均速度为</a:t>
            </a:r>
            <a:r>
              <a:rPr lang="en-US" altLang="zh-CN" sz="1200"/>
              <a:t> 30 m/s</a:t>
            </a:r>
            <a:r>
              <a:rPr lang="zh-CN" altLang="en-US" sz="1200"/>
              <a:t>。求全程的平均速度。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【读题】汽车走完甲到乙的直线全程，前半程平均速度</a:t>
            </a:r>
            <a:r>
              <a:rPr lang="en-US" altLang="zh-CN" sz="1200"/>
              <a:t> 20 m/s</a:t>
            </a:r>
            <a:r>
              <a:rPr lang="zh-CN" altLang="en-US" sz="1200"/>
              <a:t>、后半程平均速度</a:t>
            </a:r>
            <a:r>
              <a:rPr lang="en-US" altLang="zh-CN" sz="1200"/>
              <a:t> 30 m/s</a:t>
            </a:r>
            <a:r>
              <a:rPr lang="zh-CN" altLang="en-US" sz="1200"/>
              <a:t>，求全程平均速度。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</a:t>
            </a:r>
            <a:r>
              <a:rPr lang="zh-CN" altLang="en-US" sz="1200"/>
              <a:t>设全程位移</a:t>
            </a:r>
            <a:r>
              <a:rPr lang="en-US" altLang="zh-CN" sz="1200"/>
              <a:t> s</a:t>
            </a:r>
            <a:r>
              <a:rPr lang="zh-CN" altLang="en-US" sz="1200"/>
              <a:t>（</a:t>
            </a:r>
            <a:r>
              <a:rPr lang="en-US" altLang="zh-CN" sz="1200"/>
              <a:t>m</a:t>
            </a:r>
            <a:r>
              <a:rPr lang="zh-CN" altLang="en-US" sz="1200"/>
              <a:t>），前半程位移</a:t>
            </a:r>
            <a:r>
              <a:rPr lang="en-US" altLang="zh-CN" sz="1200"/>
              <a:t> s/2</a:t>
            </a:r>
            <a:r>
              <a:rPr lang="zh-CN" altLang="en-US" sz="1200"/>
              <a:t>，后半程位移</a:t>
            </a:r>
            <a:r>
              <a:rPr lang="en-US" altLang="zh-CN" sz="1200"/>
              <a:t> s/2</a:t>
            </a:r>
            <a:r>
              <a:rPr lang="zh-CN" altLang="en-US" sz="1200"/>
              <a:t>；前半程平均速度</a:t>
            </a:r>
            <a:r>
              <a:rPr lang="en-US" altLang="zh-CN" sz="1200"/>
              <a:t> v1=20 m/s</a:t>
            </a:r>
            <a:r>
              <a:rPr lang="zh-CN" altLang="en-US" sz="1200"/>
              <a:t>，后半程平均速度</a:t>
            </a:r>
            <a:r>
              <a:rPr lang="en-US" altLang="zh-CN" sz="1200"/>
              <a:t> v2=30 m/s</a:t>
            </a:r>
            <a:r>
              <a:rPr lang="zh-CN" altLang="en-US" sz="1200"/>
              <a:t>；求全程平均速度</a:t>
            </a:r>
            <a:r>
              <a:rPr lang="en-US" altLang="zh-CN" sz="1200"/>
              <a:t> v</a:t>
            </a:r>
            <a:r>
              <a:rPr lang="zh-CN" altLang="en-US" sz="1200"/>
              <a:t>（</a:t>
            </a:r>
            <a:r>
              <a:rPr lang="en-US" altLang="zh-CN" sz="1200"/>
              <a:t>m/s</a:t>
            </a:r>
            <a:r>
              <a:rPr lang="zh-CN" altLang="en-US" sz="1200"/>
              <a:t>）。</a:t>
            </a:r>
            <a:r>
              <a:rPr lang="en-US" altLang="zh-CN" sz="1200"/>
              <a:t>(</a:t>
            </a:r>
            <a:r>
              <a:rPr lang="zh-CN" altLang="en-US" sz="1200"/>
              <a:t>转完即删</a:t>
            </a:r>
            <a:r>
              <a:rPr lang="en-US" altLang="zh-CN" sz="1200"/>
              <a:t>)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全程平均速度定义</a:t>
            </a:r>
            <a:r>
              <a:rPr lang="en-US" altLang="zh-CN" sz="1200"/>
              <a:t> v=s</a:t>
            </a:r>
            <a:r>
              <a:rPr lang="zh-CN" altLang="en-US" sz="1200"/>
              <a:t>总</a:t>
            </a:r>
            <a:r>
              <a:rPr lang="en-US" altLang="zh-CN" sz="1200"/>
              <a:t>/t</a:t>
            </a:r>
            <a:r>
              <a:rPr lang="zh-CN" altLang="en-US" sz="1200"/>
              <a:t>总，已知</a:t>
            </a:r>
            <a:r>
              <a:rPr lang="en-US" altLang="zh-CN" sz="1200"/>
              <a:t> s</a:t>
            </a:r>
            <a:r>
              <a:rPr lang="zh-CN" altLang="en-US" sz="1200"/>
              <a:t>总</a:t>
            </a:r>
            <a:r>
              <a:rPr lang="en-US" altLang="zh-CN" sz="1200"/>
              <a:t>=s</a:t>
            </a:r>
            <a:r>
              <a:rPr lang="zh-CN" altLang="en-US" sz="1200"/>
              <a:t>，需先求</a:t>
            </a:r>
            <a:r>
              <a:rPr lang="en-US" altLang="zh-CN" sz="1200"/>
              <a:t> t</a:t>
            </a:r>
            <a:r>
              <a:rPr lang="zh-CN" altLang="en-US" sz="1200"/>
              <a:t>总。</a:t>
            </a:r>
            <a:r>
              <a:rPr lang="en-US" altLang="zh-CN" sz="1200"/>
              <a:t>
</a:t>
            </a:r>
            <a:r>
              <a:rPr lang="zh-CN" altLang="en-US" sz="1200"/>
              <a:t>前半程时间</a:t>
            </a:r>
            <a:r>
              <a:rPr lang="en-US" altLang="zh-CN" sz="1200"/>
              <a:t> t1=(s/2)/v1=s/(2</a:t>
            </a:r>
            <a:r>
              <a:rPr lang="zh-CN" altLang="en-US" sz="1200"/>
              <a:t>×</a:t>
            </a:r>
            <a:r>
              <a:rPr lang="en-US" altLang="zh-CN" sz="1200"/>
              <a:t>20)=s/40 s</a:t>
            </a:r>
            <a:r>
              <a:rPr lang="zh-CN" altLang="en-US" sz="1200"/>
              <a:t>；</a:t>
            </a:r>
            <a:r>
              <a:rPr lang="en-US" altLang="zh-CN" sz="1200"/>
              <a:t>
</a:t>
            </a:r>
            <a:r>
              <a:rPr lang="zh-CN" altLang="en-US" sz="1200"/>
              <a:t>后半程时间</a:t>
            </a:r>
            <a:r>
              <a:rPr lang="en-US" altLang="zh-CN" sz="1200"/>
              <a:t> t2=(s/2)/v2=s/(2</a:t>
            </a:r>
            <a:r>
              <a:rPr lang="zh-CN" altLang="en-US" sz="1200"/>
              <a:t>×</a:t>
            </a:r>
            <a:r>
              <a:rPr lang="en-US" altLang="zh-CN" sz="1200"/>
              <a:t>30)=s/60 s</a:t>
            </a:r>
            <a:r>
              <a:rPr lang="zh-CN" altLang="en-US" sz="1200"/>
              <a:t>；</a:t>
            </a:r>
            <a:r>
              <a:rPr lang="en-US" altLang="zh-CN" sz="1200"/>
              <a:t>
t</a:t>
            </a:r>
            <a:r>
              <a:rPr lang="zh-CN" altLang="en-US" sz="1200"/>
              <a:t>总</a:t>
            </a:r>
            <a:r>
              <a:rPr lang="en-US" altLang="zh-CN" sz="1200"/>
              <a:t>=t1+t2=s/40+s/60=(3s+2s)/120=5s/120=s/24 s</a:t>
            </a:r>
            <a:r>
              <a:rPr lang="zh-CN" altLang="en-US" sz="1200"/>
              <a:t>；</a:t>
            </a:r>
            <a:r>
              <a:rPr lang="en-US" altLang="zh-CN" sz="1200"/>
              <a:t>
v=s/t</a:t>
            </a:r>
            <a:r>
              <a:rPr lang="zh-CN" altLang="en-US" sz="1200"/>
              <a:t>总</a:t>
            </a:r>
            <a:r>
              <a:rPr lang="en-US" altLang="zh-CN" sz="1200"/>
              <a:t>=s/(s/24)=24 m/s</a:t>
            </a:r>
            <a:r>
              <a:rPr lang="zh-CN" altLang="en-US" sz="1200"/>
              <a:t>。</a:t>
            </a:r>
            <a:r>
              <a:rPr lang="en-US" altLang="zh-CN" sz="1200"/>
              <a:t>
(</a:t>
            </a:r>
            <a:r>
              <a:rPr lang="zh-CN" altLang="en-US" sz="1200"/>
              <a:t>知三求二：知</a:t>
            </a:r>
            <a:r>
              <a:rPr lang="en-US" altLang="zh-CN" sz="1200"/>
              <a:t> v1</a:t>
            </a:r>
            <a:r>
              <a:rPr lang="zh-CN" altLang="en-US" sz="1200"/>
              <a:t>、</a:t>
            </a:r>
            <a:r>
              <a:rPr lang="en-US" altLang="zh-CN" sz="1200"/>
              <a:t>v2 </a:t>
            </a:r>
            <a:r>
              <a:rPr lang="zh-CN" altLang="en-US" sz="1200"/>
              <a:t>与</a:t>
            </a:r>
            <a:r>
              <a:rPr lang="en-US" altLang="zh-CN" sz="1200"/>
              <a:t>“</a:t>
            </a:r>
            <a:r>
              <a:rPr lang="zh-CN" altLang="en-US" sz="1200"/>
              <a:t>两段位移相等</a:t>
            </a:r>
            <a:r>
              <a:rPr lang="en-US" altLang="zh-CN" sz="1200"/>
              <a:t>”</a:t>
            </a:r>
            <a:r>
              <a:rPr lang="zh-CN" altLang="en-US" sz="1200"/>
              <a:t>这一条件，求</a:t>
            </a:r>
            <a:r>
              <a:rPr lang="en-US" altLang="zh-CN" sz="1200"/>
              <a:t> v)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适用条件：两段位移相等、且各段平均速度已知。满足条件，可用二级结论</a:t>
            </a:r>
            <a:r>
              <a:rPr lang="en-US" altLang="zh-CN" sz="1200"/>
              <a:t> v=2v1v2/(v1+v2)</a:t>
            </a:r>
            <a:r>
              <a:rPr lang="zh-CN" altLang="en-US" sz="1200"/>
              <a:t>。</a:t>
            </a:r>
            <a:r>
              <a:rPr lang="en-US" altLang="zh-CN" sz="1200"/>
              <a:t>
v=2</a:t>
            </a:r>
            <a:r>
              <a:rPr lang="zh-CN" altLang="en-US" sz="1200"/>
              <a:t>×</a:t>
            </a:r>
            <a:r>
              <a:rPr lang="en-US" altLang="zh-CN" sz="1200"/>
              <a:t>20</a:t>
            </a:r>
            <a:r>
              <a:rPr lang="zh-CN" altLang="en-US" sz="1200"/>
              <a:t>×</a:t>
            </a:r>
            <a:r>
              <a:rPr lang="en-US" altLang="zh-CN" sz="1200"/>
              <a:t>30/(20+30)=1200/50=24 m/s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v=s/t </a:t>
            </a:r>
            <a:r>
              <a:rPr lang="zh-CN" altLang="en-US" sz="1200"/>
              <a:t>可得</a:t>
            </a:r>
            <a:r>
              <a:rPr lang="en-US" altLang="zh-CN" sz="1200"/>
              <a:t> t=s/v</a:t>
            </a:r>
            <a:r>
              <a:rPr lang="zh-CN" altLang="en-US" sz="1200"/>
              <a:t>；根据</a:t>
            </a:r>
            <a:r>
              <a:rPr lang="en-US" altLang="zh-CN" sz="1200"/>
              <a:t> t</a:t>
            </a:r>
            <a:r>
              <a:rPr lang="zh-CN" altLang="en-US" sz="1200"/>
              <a:t>总</a:t>
            </a:r>
            <a:r>
              <a:rPr lang="en-US" altLang="zh-CN" sz="1200"/>
              <a:t>=t1+t2 </a:t>
            </a:r>
            <a:r>
              <a:rPr lang="zh-CN" altLang="en-US" sz="1200"/>
              <a:t>可得</a:t>
            </a:r>
            <a:r>
              <a:rPr lang="en-US" altLang="zh-CN" sz="1200"/>
              <a:t> s/v=s/(2v1)+s/(2v2)</a:t>
            </a:r>
            <a:r>
              <a:rPr lang="zh-CN" altLang="en-US" sz="1200"/>
              <a:t>；约去</a:t>
            </a:r>
            <a:r>
              <a:rPr lang="en-US" altLang="zh-CN" sz="1200"/>
              <a:t> s </a:t>
            </a:r>
            <a:r>
              <a:rPr lang="zh-CN" altLang="en-US" sz="1200"/>
              <a:t>得</a:t>
            </a:r>
            <a:r>
              <a:rPr lang="en-US" altLang="zh-CN" sz="1200"/>
              <a:t> 1/v=1/(2v1)+1/(2v2)</a:t>
            </a:r>
            <a:r>
              <a:rPr lang="zh-CN" altLang="en-US" sz="1200"/>
              <a:t>，即</a:t>
            </a:r>
            <a:r>
              <a:rPr lang="en-US" altLang="zh-CN" sz="1200"/>
              <a:t> v=2v1v2/(v1+v2)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归为</a:t>
            </a:r>
            <a:r>
              <a:rPr lang="en-US" altLang="zh-CN" sz="1200"/>
              <a:t>“</a:t>
            </a:r>
            <a:r>
              <a:rPr lang="zh-CN" altLang="en-US" sz="1200"/>
              <a:t>等位移分段平均速度模型</a:t>
            </a:r>
            <a:r>
              <a:rPr lang="en-US" altLang="zh-CN" sz="1200"/>
              <a:t>”</a:t>
            </a:r>
            <a:r>
              <a:rPr lang="zh-CN" altLang="en-US" sz="1200"/>
              <a:t>：把全程理想化为两段等长位移，每段内速度视为恒定，全程平均速度不是两段速度的算术平均值，而是总位移除以总时间。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器材：卷尺、秒表、标志物。步骤：量出总路程</a:t>
            </a:r>
            <a:r>
              <a:rPr lang="en-US" altLang="zh-CN" sz="1200"/>
              <a:t> s</a:t>
            </a:r>
            <a:r>
              <a:rPr lang="zh-CN" altLang="en-US" sz="1200"/>
              <a:t>，在中点放标志物；测前半程时间</a:t>
            </a:r>
            <a:r>
              <a:rPr lang="en-US" altLang="zh-CN" sz="1200"/>
              <a:t> t1</a:t>
            </a:r>
            <a:r>
              <a:rPr lang="zh-CN" altLang="en-US" sz="1200"/>
              <a:t>、后半程时间</a:t>
            </a:r>
            <a:r>
              <a:rPr lang="en-US" altLang="zh-CN" sz="1200"/>
              <a:t> t2</a:t>
            </a:r>
            <a:r>
              <a:rPr lang="zh-CN" altLang="en-US" sz="1200"/>
              <a:t>；算</a:t>
            </a:r>
            <a:r>
              <a:rPr lang="en-US" altLang="zh-CN" sz="1200"/>
              <a:t> v=s/(t1+t2)</a:t>
            </a:r>
            <a:r>
              <a:rPr lang="zh-CN" altLang="en-US" sz="1200"/>
              <a:t>。预期现象：若前半程慢、后半程快，则</a:t>
            </a:r>
            <a:r>
              <a:rPr lang="en-US" altLang="zh-CN" sz="1200"/>
              <a:t> v </a:t>
            </a:r>
            <a:r>
              <a:rPr lang="zh-CN" altLang="en-US" sz="1200"/>
              <a:t>小于</a:t>
            </a:r>
            <a:r>
              <a:rPr lang="en-US" altLang="zh-CN" sz="1200"/>
              <a:t> (v1+v2)/2</a:t>
            </a:r>
            <a:r>
              <a:rPr lang="zh-CN" altLang="en-US" sz="1200"/>
              <a:t>，且接近</a:t>
            </a:r>
            <a:r>
              <a:rPr lang="en-US" altLang="zh-CN" sz="1200"/>
              <a:t> 24 m/s</a:t>
            </a:r>
            <a:r>
              <a:rPr lang="zh-CN" altLang="en-US" sz="1200"/>
              <a:t>（以</a:t>
            </a:r>
            <a:r>
              <a:rPr lang="en-US" altLang="zh-CN" sz="1200"/>
              <a:t> 20 m/s</a:t>
            </a:r>
            <a:r>
              <a:rPr lang="zh-CN" altLang="en-US" sz="1200"/>
              <a:t>、</a:t>
            </a:r>
            <a:r>
              <a:rPr lang="en-US" altLang="zh-CN" sz="1200"/>
              <a:t>30 m/s </a:t>
            </a:r>
            <a:r>
              <a:rPr lang="zh-CN" altLang="en-US" sz="1200"/>
              <a:t>为例）。</a:t>
            </a:r>
            <a:r>
              <a:rPr lang="en-US" altLang="zh-CN" sz="1200"/>
              <a:t>
</a:t>
            </a:r>
            <a:r>
              <a:rPr lang="zh-CN" altLang="en-US" sz="1200"/>
              <a:t>【答案】全程平均速度</a:t>
            </a:r>
            <a:r>
              <a:rPr lang="en-US" altLang="zh-CN" sz="1200"/>
              <a:t> v=24 m/s</a:t>
            </a:r>
            <a:r>
              <a:rPr lang="zh-CN" altLang="en-US" sz="1200"/>
              <a:t>，方向由甲地指向乙地。</a:t>
            </a:r>
            <a:r>
              <a:rPr lang="en-US" altLang="zh-CN" sz="1200"/>
              <a:t>
</a:t>
            </a:r>
            <a:r>
              <a:rPr lang="zh-CN" altLang="en-US" sz="1200"/>
              <a:t>【自检】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量纲检查：</a:t>
            </a:r>
            <a:r>
              <a:rPr lang="en-US" altLang="zh-CN" sz="1200"/>
              <a:t>v=2v1v2/(v1+v2)</a:t>
            </a:r>
            <a:r>
              <a:rPr lang="zh-CN" altLang="en-US" sz="1200"/>
              <a:t>，分子</a:t>
            </a:r>
            <a:r>
              <a:rPr lang="en-US" altLang="zh-CN" sz="1200"/>
              <a:t> (m/s)²</a:t>
            </a:r>
            <a:r>
              <a:rPr lang="zh-CN" altLang="en-US" sz="1200"/>
              <a:t>，分母</a:t>
            </a:r>
            <a:r>
              <a:rPr lang="en-US" altLang="zh-CN" sz="1200"/>
              <a:t> m/s</a:t>
            </a:r>
            <a:r>
              <a:rPr lang="zh-CN" altLang="en-US" sz="1200"/>
              <a:t>，结果单位</a:t>
            </a:r>
            <a:r>
              <a:rPr lang="en-US" altLang="zh-CN" sz="1200"/>
              <a:t> m/s</a:t>
            </a:r>
            <a:r>
              <a:rPr lang="zh-CN" altLang="en-US" sz="1200"/>
              <a:t>，正确。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回代验算：取</a:t>
            </a:r>
            <a:r>
              <a:rPr lang="en-US" altLang="zh-CN" sz="1200"/>
              <a:t> s=120 m</a:t>
            </a:r>
            <a:r>
              <a:rPr lang="zh-CN" altLang="en-US" sz="1200"/>
              <a:t>，则</a:t>
            </a:r>
            <a:r>
              <a:rPr lang="en-US" altLang="zh-CN" sz="1200"/>
              <a:t> t1=60/20=3 s</a:t>
            </a:r>
            <a:r>
              <a:rPr lang="zh-CN" altLang="en-US" sz="1200"/>
              <a:t>，</a:t>
            </a:r>
            <a:r>
              <a:rPr lang="en-US" altLang="zh-CN" sz="1200"/>
              <a:t>t2=60/30=2 s</a:t>
            </a:r>
            <a:r>
              <a:rPr lang="zh-CN" altLang="en-US" sz="1200"/>
              <a:t>，</a:t>
            </a:r>
            <a:r>
              <a:rPr lang="en-US" altLang="zh-CN" sz="1200"/>
              <a:t>t</a:t>
            </a:r>
            <a:r>
              <a:rPr lang="zh-CN" altLang="en-US" sz="1200"/>
              <a:t>总</a:t>
            </a:r>
            <a:r>
              <a:rPr lang="en-US" altLang="zh-CN" sz="1200"/>
              <a:t>=5 s</a:t>
            </a:r>
            <a:r>
              <a:rPr lang="zh-CN" altLang="en-US" sz="1200"/>
              <a:t>，</a:t>
            </a:r>
            <a:r>
              <a:rPr lang="en-US" altLang="zh-CN" sz="1200"/>
              <a:t>v=120/5=24 m/s</a:t>
            </a:r>
            <a:r>
              <a:rPr lang="zh-CN" altLang="en-US" sz="1200"/>
              <a:t>，与结果一致。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陷阱检查：全程平均速度不是</a:t>
            </a:r>
            <a:r>
              <a:rPr lang="en-US" altLang="zh-CN" sz="1200"/>
              <a:t> (20+30)/2=25 m/s</a:t>
            </a:r>
            <a:r>
              <a:rPr lang="zh-CN" altLang="en-US" sz="1200"/>
              <a:t>；因为后半程用时更短，慢速段占比更大，所以平均速度应偏向</a:t>
            </a:r>
            <a:r>
              <a:rPr lang="en-US" altLang="zh-CN" sz="1200"/>
              <a:t> 20 m/s</a:t>
            </a:r>
            <a:r>
              <a:rPr lang="zh-CN" altLang="en-US" sz="1200"/>
              <a:t>，</a:t>
            </a:r>
            <a:r>
              <a:rPr lang="en-US" altLang="zh-CN" sz="1200"/>
              <a:t>24 m/s </a:t>
            </a:r>
            <a:r>
              <a:rPr lang="zh-CN" altLang="en-US" sz="1200"/>
              <a:t>合理。</a:t>
            </a:r>
            <a:endParaRPr lang="zh-CN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T03  </a:t>
            </a:r>
            <a:r>
              <a:rPr lang="zh-CN" altLang="en-US" sz="2400" b="1"/>
              <a:t>加速度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题目：一物体做匀加速直线运动，初速度为</a:t>
            </a:r>
            <a:r>
              <a:rPr lang="en-US" altLang="zh-CN" sz="1200"/>
              <a:t> 2 m/s</a:t>
            </a:r>
            <a:r>
              <a:rPr lang="zh-CN" altLang="en-US" sz="1200"/>
              <a:t>，</a:t>
            </a:r>
            <a:r>
              <a:rPr lang="en-US" altLang="zh-CN" sz="1200"/>
              <a:t>3 s </a:t>
            </a:r>
            <a:r>
              <a:rPr lang="zh-CN" altLang="en-US" sz="1200"/>
              <a:t>末速度变为</a:t>
            </a:r>
            <a:r>
              <a:rPr lang="en-US" altLang="zh-CN" sz="1200"/>
              <a:t> 8 m/s</a:t>
            </a:r>
            <a:r>
              <a:rPr lang="zh-CN" altLang="en-US" sz="1200"/>
              <a:t>。求物体的加速度，并说明方向。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【读题】已知匀加速直线运动</a:t>
            </a:r>
            <a:r>
              <a:rPr lang="en-US" altLang="zh-CN" sz="1200"/>
              <a:t> v0=2 m/s</a:t>
            </a:r>
            <a:r>
              <a:rPr lang="zh-CN" altLang="en-US" sz="1200"/>
              <a:t>、</a:t>
            </a:r>
            <a:r>
              <a:rPr lang="en-US" altLang="zh-CN" sz="1200"/>
              <a:t>t=3 s </a:t>
            </a:r>
            <a:r>
              <a:rPr lang="zh-CN" altLang="en-US" sz="1200"/>
              <a:t>时</a:t>
            </a:r>
            <a:r>
              <a:rPr lang="en-US" altLang="zh-CN" sz="1200"/>
              <a:t> v=8 m/s</a:t>
            </a:r>
            <a:r>
              <a:rPr lang="zh-CN" altLang="en-US" sz="1200"/>
              <a:t>，求加速度大小并说明方向。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v0=2 m/s</a:t>
            </a:r>
            <a:r>
              <a:rPr lang="zh-CN" altLang="en-US" sz="1200"/>
              <a:t>、</a:t>
            </a:r>
            <a:r>
              <a:rPr lang="en-US" altLang="zh-CN" sz="1200"/>
              <a:t>t=3 s</a:t>
            </a:r>
            <a:r>
              <a:rPr lang="zh-CN" altLang="en-US" sz="1200"/>
              <a:t>、</a:t>
            </a:r>
            <a:r>
              <a:rPr lang="en-US" altLang="zh-CN" sz="1200"/>
              <a:t>v=8 m/s</a:t>
            </a:r>
            <a:r>
              <a:rPr lang="zh-CN" altLang="en-US" sz="1200"/>
              <a:t>、匀加速直线运动</a:t>
            </a:r>
            <a:r>
              <a:rPr lang="en-US" altLang="zh-CN" sz="1200"/>
              <a:t>(</a:t>
            </a:r>
            <a:r>
              <a:rPr lang="zh-CN" altLang="en-US" sz="1200"/>
              <a:t>把文字转成量，转完即删</a:t>
            </a:r>
            <a:r>
              <a:rPr lang="en-US" altLang="zh-CN" sz="1200"/>
              <a:t>)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运动学五个量：</a:t>
            </a:r>
            <a:r>
              <a:rPr lang="en-US" altLang="zh-CN" sz="1200"/>
              <a:t>v0</a:t>
            </a:r>
            <a:r>
              <a:rPr lang="zh-CN" altLang="en-US" sz="1200"/>
              <a:t>、</a:t>
            </a:r>
            <a:r>
              <a:rPr lang="en-US" altLang="zh-CN" sz="1200"/>
              <a:t>v</a:t>
            </a:r>
            <a:r>
              <a:rPr lang="zh-CN" altLang="en-US" sz="1200"/>
              <a:t>、</a:t>
            </a:r>
            <a:r>
              <a:rPr lang="en-US" altLang="zh-CN" sz="1200"/>
              <a:t>t</a:t>
            </a:r>
            <a:r>
              <a:rPr lang="zh-CN" altLang="en-US" sz="1200"/>
              <a:t>、</a:t>
            </a:r>
            <a:r>
              <a:rPr lang="en-US" altLang="zh-CN" sz="1200"/>
              <a:t>a</a:t>
            </a:r>
            <a:r>
              <a:rPr lang="zh-CN" altLang="en-US" sz="1200"/>
              <a:t>、</a:t>
            </a:r>
            <a:r>
              <a:rPr lang="en-US" altLang="zh-CN" sz="1200"/>
              <a:t>x</a:t>
            </a:r>
            <a:r>
              <a:rPr lang="zh-CN" altLang="en-US" sz="1200"/>
              <a:t>；已知</a:t>
            </a:r>
            <a:r>
              <a:rPr lang="en-US" altLang="zh-CN" sz="1200"/>
              <a:t> v0=2 m/s</a:t>
            </a:r>
            <a:r>
              <a:rPr lang="zh-CN" altLang="en-US" sz="1200"/>
              <a:t>、</a:t>
            </a:r>
            <a:r>
              <a:rPr lang="en-US" altLang="zh-CN" sz="1200"/>
              <a:t>v=8 m/s</a:t>
            </a:r>
            <a:r>
              <a:rPr lang="zh-CN" altLang="en-US" sz="1200"/>
              <a:t>、</a:t>
            </a:r>
            <a:r>
              <a:rPr lang="en-US" altLang="zh-CN" sz="1200"/>
              <a:t>t=3 s</a:t>
            </a:r>
            <a:r>
              <a:rPr lang="zh-CN" altLang="en-US" sz="1200"/>
              <a:t>，求</a:t>
            </a:r>
            <a:r>
              <a:rPr lang="en-US" altLang="zh-CN" sz="1200"/>
              <a:t> a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由</a:t>
            </a:r>
            <a:r>
              <a:rPr lang="en-US" altLang="zh-CN" sz="1200"/>
              <a:t> v=v0+at </a:t>
            </a:r>
            <a:r>
              <a:rPr lang="zh-CN" altLang="en-US" sz="1200"/>
              <a:t>得</a:t>
            </a:r>
            <a:r>
              <a:rPr lang="en-US" altLang="zh-CN" sz="1200"/>
              <a:t> a=(v-v0)/t=(8-2)/3=6/3=2 m/s²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(</a:t>
            </a:r>
            <a:r>
              <a:rPr lang="zh-CN" altLang="en-US" sz="1200"/>
              <a:t>本题直接由定义式求解，无需二级结论</a:t>
            </a:r>
            <a:r>
              <a:rPr lang="en-US" altLang="zh-CN" sz="1200"/>
              <a:t>)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(</a:t>
            </a:r>
            <a:r>
              <a:rPr lang="zh-CN" altLang="en-US" sz="1200"/>
              <a:t>单个物体直线运动，不涉及受力分析</a:t>
            </a:r>
            <a:r>
              <a:rPr lang="en-US" altLang="zh-CN" sz="1200"/>
              <a:t>)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(</a:t>
            </a:r>
            <a:r>
              <a:rPr lang="zh-CN" altLang="en-US" sz="1200"/>
              <a:t>无系统，不涉及整体法</a:t>
            </a:r>
            <a:r>
              <a:rPr lang="en-US" altLang="zh-CN" sz="1200"/>
              <a:t>)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(</a:t>
            </a:r>
            <a:r>
              <a:rPr lang="zh-CN" altLang="en-US" sz="1200"/>
              <a:t>无平衡状态，不列平衡方程</a:t>
            </a:r>
            <a:r>
              <a:rPr lang="en-US" altLang="zh-CN" sz="1200"/>
              <a:t>)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v=v0+at </a:t>
            </a:r>
            <a:r>
              <a:rPr lang="zh-CN" altLang="en-US" sz="1200"/>
              <a:t>可得</a:t>
            </a:r>
            <a:r>
              <a:rPr lang="en-US" altLang="zh-CN" sz="1200"/>
              <a:t> a=(v-v0)/t</a:t>
            </a:r>
            <a:r>
              <a:rPr lang="zh-CN" altLang="en-US" sz="1200"/>
              <a:t>，即加速度等于速度变化量与所用时间的比值。</a:t>
            </a:r>
            <a:r>
              <a:rPr lang="en-US" altLang="zh-CN" sz="1200"/>
              <a:t>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归为</a:t>
            </a:r>
            <a:r>
              <a:rPr lang="en-US" altLang="zh-CN" sz="1200"/>
              <a:t>“</a:t>
            </a:r>
            <a:r>
              <a:rPr lang="zh-CN" altLang="en-US" sz="1200"/>
              <a:t>匀变速直线运动模型</a:t>
            </a:r>
            <a:r>
              <a:rPr lang="en-US" altLang="zh-CN" sz="1200"/>
              <a:t>”</a:t>
            </a:r>
            <a:r>
              <a:rPr lang="zh-CN" altLang="en-US" sz="1200"/>
              <a:t>：速度随时间均匀增大，</a:t>
            </a:r>
            <a:r>
              <a:rPr lang="en-US" altLang="zh-CN" sz="1200"/>
              <a:t>a </a:t>
            </a:r>
            <a:r>
              <a:rPr lang="zh-CN" altLang="en-US" sz="1200"/>
              <a:t>与</a:t>
            </a:r>
            <a:r>
              <a:rPr lang="en-US" altLang="zh-CN" sz="1200"/>
              <a:t> v0 </a:t>
            </a:r>
            <a:r>
              <a:rPr lang="zh-CN" altLang="en-US" sz="1200"/>
              <a:t>同向。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器材：小车、打点计时器、纸带、刻度尺。步骤：让小车做加速运动打出纸带，取相邻计时点测速度，用</a:t>
            </a:r>
            <a:r>
              <a:rPr lang="en-US" altLang="zh-CN" sz="1200"/>
              <a:t> a=(v-v0)/t </a:t>
            </a:r>
            <a:r>
              <a:rPr lang="zh-CN" altLang="en-US" sz="1200"/>
              <a:t>计算。预期现象：算得</a:t>
            </a:r>
            <a:r>
              <a:rPr lang="en-US" altLang="zh-CN" sz="1200"/>
              <a:t> a </a:t>
            </a:r>
            <a:r>
              <a:rPr lang="zh-CN" altLang="en-US" sz="1200"/>
              <a:t>约为</a:t>
            </a:r>
            <a:r>
              <a:rPr lang="en-US" altLang="zh-CN" sz="1200"/>
              <a:t> 2 m/s²</a:t>
            </a:r>
            <a:r>
              <a:rPr lang="zh-CN" altLang="en-US" sz="1200"/>
              <a:t>，且与初速度方向相同。</a:t>
            </a:r>
            <a:r>
              <a:rPr lang="en-US" altLang="zh-CN" sz="1200"/>
              <a:t>
</a:t>
            </a:r>
            <a:r>
              <a:rPr lang="zh-CN" altLang="en-US" sz="1200"/>
              <a:t>【答案】</a:t>
            </a:r>
            <a:r>
              <a:rPr lang="en-US" altLang="zh-CN" sz="1200"/>
              <a:t>a=2 m/s²</a:t>
            </a:r>
            <a:r>
              <a:rPr lang="zh-CN" altLang="en-US" sz="1200"/>
              <a:t>，方向与初速度方向相同（即与运动方向相同）。</a:t>
            </a:r>
            <a:r>
              <a:rPr lang="en-US" altLang="zh-CN" sz="1200"/>
              <a:t>
</a:t>
            </a:r>
            <a:r>
              <a:rPr lang="zh-CN" altLang="en-US" sz="1200"/>
              <a:t>【自检】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量纲检查：</a:t>
            </a:r>
            <a:r>
              <a:rPr lang="en-US" altLang="zh-CN" sz="1200"/>
              <a:t>(m/s-m/s)/s=m/s²</a:t>
            </a:r>
            <a:r>
              <a:rPr lang="zh-CN" altLang="en-US" sz="1200"/>
              <a:t>，量纲正确。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回代验算：</a:t>
            </a:r>
            <a:r>
              <a:rPr lang="en-US" altLang="zh-CN" sz="1200"/>
              <a:t>v=v0+at=2+2</a:t>
            </a:r>
            <a:r>
              <a:rPr lang="zh-CN" altLang="en-US" sz="1200"/>
              <a:t>×</a:t>
            </a:r>
            <a:r>
              <a:rPr lang="en-US" altLang="zh-CN" sz="1200"/>
              <a:t>3=8 m/s</a:t>
            </a:r>
            <a:r>
              <a:rPr lang="zh-CN" altLang="en-US" sz="1200"/>
              <a:t>，与题给</a:t>
            </a:r>
            <a:r>
              <a:rPr lang="en-US" altLang="zh-CN" sz="1200"/>
              <a:t> 3 s </a:t>
            </a:r>
            <a:r>
              <a:rPr lang="zh-CN" altLang="en-US" sz="1200"/>
              <a:t>末速度一致。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陷阱检查：本题为匀加速，未出现</a:t>
            </a:r>
            <a:r>
              <a:rPr lang="en-US" altLang="zh-CN" sz="1200"/>
              <a:t>“10 s </a:t>
            </a:r>
            <a:r>
              <a:rPr lang="zh-CN" altLang="en-US" sz="1200"/>
              <a:t>内</a:t>
            </a:r>
            <a:r>
              <a:rPr lang="en-US" altLang="zh-CN" sz="1200"/>
              <a:t>”“</a:t>
            </a:r>
            <a:r>
              <a:rPr lang="zh-CN" altLang="en-US" sz="1200"/>
              <a:t>上升到最高点后又落回</a:t>
            </a:r>
            <a:r>
              <a:rPr lang="en-US" altLang="zh-CN" sz="1200"/>
              <a:t>”</a:t>
            </a:r>
            <a:r>
              <a:rPr lang="zh-CN" altLang="en-US" sz="1200"/>
              <a:t>等陷阱；加速度为正值且与初速度同向，符合匀加速条件。</a:t>
            </a:r>
            <a:endParaRPr lang="zh-CN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T04  v-t </a:t>
            </a:r>
            <a:r>
              <a:rPr lang="zh-CN" altLang="en-US" sz="2400" b="1"/>
              <a:t>图像与加速度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6924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题目：某物体沿直线运动：</a:t>
            </a:r>
            <a:r>
              <a:rPr lang="en-US" altLang="zh-CN" sz="1200"/>
              <a:t>0</a:t>
            </a:r>
            <a:r>
              <a:rPr lang="zh-CN" altLang="en-US" sz="1200"/>
              <a:t>～</a:t>
            </a:r>
            <a:r>
              <a:rPr lang="en-US" altLang="zh-CN" sz="1200"/>
              <a:t>4 s </a:t>
            </a:r>
            <a:r>
              <a:rPr lang="zh-CN" altLang="en-US" sz="1200"/>
              <a:t>内速度由</a:t>
            </a:r>
            <a:r>
              <a:rPr lang="en-US" altLang="zh-CN" sz="1200"/>
              <a:t> 0 </a:t>
            </a:r>
            <a:r>
              <a:rPr lang="zh-CN" altLang="en-US" sz="1200"/>
              <a:t>均匀增大到</a:t>
            </a:r>
            <a:r>
              <a:rPr lang="en-US" altLang="zh-CN" sz="1200"/>
              <a:t> 8 m/s</a:t>
            </a:r>
            <a:r>
              <a:rPr lang="zh-CN" altLang="en-US" sz="1200"/>
              <a:t>；</a:t>
            </a:r>
            <a:r>
              <a:rPr lang="en-US" altLang="zh-CN" sz="1200"/>
              <a:t>4</a:t>
            </a:r>
            <a:r>
              <a:rPr lang="zh-CN" altLang="en-US" sz="1200"/>
              <a:t>～</a:t>
            </a:r>
            <a:r>
              <a:rPr lang="en-US" altLang="zh-CN" sz="1200"/>
              <a:t>6 s </a:t>
            </a:r>
            <a:r>
              <a:rPr lang="zh-CN" altLang="en-US" sz="1200"/>
              <a:t>内速度保持</a:t>
            </a:r>
            <a:r>
              <a:rPr lang="en-US" altLang="zh-CN" sz="1200"/>
              <a:t> 8 m/s</a:t>
            </a:r>
            <a:r>
              <a:rPr lang="zh-CN" altLang="en-US" sz="1200"/>
              <a:t>；</a:t>
            </a:r>
            <a:r>
              <a:rPr lang="en-US" altLang="zh-CN" sz="1200"/>
              <a:t>6</a:t>
            </a:r>
            <a:r>
              <a:rPr lang="zh-CN" altLang="en-US" sz="1200"/>
              <a:t>～</a:t>
            </a:r>
            <a:r>
              <a:rPr lang="en-US" altLang="zh-CN" sz="1200"/>
              <a:t>10 s </a:t>
            </a:r>
            <a:r>
              <a:rPr lang="zh-CN" altLang="en-US" sz="1200"/>
              <a:t>内均匀减速到</a:t>
            </a:r>
            <a:r>
              <a:rPr lang="en-US" altLang="zh-CN" sz="1200"/>
              <a:t> 0</a:t>
            </a:r>
            <a:r>
              <a:rPr lang="zh-CN" altLang="en-US" sz="1200"/>
              <a:t>。求各段的加速度，以及</a:t>
            </a:r>
            <a:r>
              <a:rPr lang="en-US" altLang="zh-CN" sz="1200"/>
              <a:t> 0</a:t>
            </a:r>
            <a:r>
              <a:rPr lang="zh-CN" altLang="en-US" sz="1200"/>
              <a:t>～</a:t>
            </a:r>
            <a:r>
              <a:rPr lang="en-US" altLang="zh-CN" sz="1200"/>
              <a:t>10 s </a:t>
            </a:r>
            <a:r>
              <a:rPr lang="zh-CN" altLang="en-US" sz="1200"/>
              <a:t>内的总位移。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【读题】物体沿直线分三段运动：</a:t>
            </a:r>
            <a:r>
              <a:rPr lang="en-US" altLang="zh-CN" sz="1200"/>
              <a:t>0</a:t>
            </a:r>
            <a:r>
              <a:rPr lang="zh-CN" altLang="en-US" sz="1200"/>
              <a:t>～</a:t>
            </a:r>
            <a:r>
              <a:rPr lang="en-US" altLang="zh-CN" sz="1200"/>
              <a:t>4 s </a:t>
            </a:r>
            <a:r>
              <a:rPr lang="zh-CN" altLang="en-US" sz="1200"/>
              <a:t>匀加速</a:t>
            </a:r>
            <a:r>
              <a:rPr lang="en-US" altLang="zh-CN" sz="1200"/>
              <a:t> 0→8 m/s</a:t>
            </a:r>
            <a:r>
              <a:rPr lang="zh-CN" altLang="en-US" sz="1200"/>
              <a:t>，</a:t>
            </a:r>
            <a:r>
              <a:rPr lang="en-US" altLang="zh-CN" sz="1200"/>
              <a:t>4</a:t>
            </a:r>
            <a:r>
              <a:rPr lang="zh-CN" altLang="en-US" sz="1200"/>
              <a:t>～</a:t>
            </a:r>
            <a:r>
              <a:rPr lang="en-US" altLang="zh-CN" sz="1200"/>
              <a:t>6 s </a:t>
            </a:r>
            <a:r>
              <a:rPr lang="zh-CN" altLang="en-US" sz="1200"/>
              <a:t>匀速</a:t>
            </a:r>
            <a:r>
              <a:rPr lang="en-US" altLang="zh-CN" sz="1200"/>
              <a:t> 8 m/s</a:t>
            </a:r>
            <a:r>
              <a:rPr lang="zh-CN" altLang="en-US" sz="1200"/>
              <a:t>，</a:t>
            </a:r>
            <a:r>
              <a:rPr lang="en-US" altLang="zh-CN" sz="1200"/>
              <a:t>6</a:t>
            </a:r>
            <a:r>
              <a:rPr lang="zh-CN" altLang="en-US" sz="1200"/>
              <a:t>～</a:t>
            </a:r>
            <a:r>
              <a:rPr lang="en-US" altLang="zh-CN" sz="1200"/>
              <a:t>10 s </a:t>
            </a:r>
            <a:r>
              <a:rPr lang="zh-CN" altLang="en-US" sz="1200"/>
              <a:t>匀减速</a:t>
            </a:r>
            <a:r>
              <a:rPr lang="en-US" altLang="zh-CN" sz="1200"/>
              <a:t> 8→0 m/s</a:t>
            </a:r>
            <a:r>
              <a:rPr lang="zh-CN" altLang="en-US" sz="1200"/>
              <a:t>，求各段加速度和</a:t>
            </a:r>
            <a:r>
              <a:rPr lang="en-US" altLang="zh-CN" sz="1200"/>
              <a:t> 0</a:t>
            </a:r>
            <a:r>
              <a:rPr lang="zh-CN" altLang="en-US" sz="1200"/>
              <a:t>～</a:t>
            </a:r>
            <a:r>
              <a:rPr lang="en-US" altLang="zh-CN" sz="1200"/>
              <a:t>10 s </a:t>
            </a:r>
            <a:r>
              <a:rPr lang="zh-CN" altLang="en-US" sz="1200"/>
              <a:t>总位移。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</a:t>
            </a:r>
            <a:r>
              <a:rPr lang="zh-CN" altLang="en-US" sz="1200"/>
              <a:t>第一段：</a:t>
            </a:r>
            <a:r>
              <a:rPr lang="en-US" altLang="zh-CN" sz="1200"/>
              <a:t>v0=0 m/s</a:t>
            </a:r>
            <a:r>
              <a:rPr lang="zh-CN" altLang="en-US" sz="1200"/>
              <a:t>、</a:t>
            </a:r>
            <a:r>
              <a:rPr lang="en-US" altLang="zh-CN" sz="1200"/>
              <a:t>v=8 m/s</a:t>
            </a:r>
            <a:r>
              <a:rPr lang="zh-CN" altLang="en-US" sz="1200"/>
              <a:t>、</a:t>
            </a:r>
            <a:r>
              <a:rPr lang="en-US" altLang="zh-CN" sz="1200"/>
              <a:t>t1=4 s</a:t>
            </a:r>
            <a:r>
              <a:rPr lang="zh-CN" altLang="en-US" sz="1200"/>
              <a:t>；第二段：</a:t>
            </a:r>
            <a:r>
              <a:rPr lang="en-US" altLang="zh-CN" sz="1200"/>
              <a:t>v=8 m/s</a:t>
            </a:r>
            <a:r>
              <a:rPr lang="zh-CN" altLang="en-US" sz="1200"/>
              <a:t>、</a:t>
            </a:r>
            <a:r>
              <a:rPr lang="en-US" altLang="zh-CN" sz="1200"/>
              <a:t>t2=2 s</a:t>
            </a:r>
            <a:r>
              <a:rPr lang="zh-CN" altLang="en-US" sz="1200"/>
              <a:t>；第三段：</a:t>
            </a:r>
            <a:r>
              <a:rPr lang="en-US" altLang="zh-CN" sz="1200"/>
              <a:t>v0=8 m/s</a:t>
            </a:r>
            <a:r>
              <a:rPr lang="zh-CN" altLang="en-US" sz="1200"/>
              <a:t>、</a:t>
            </a:r>
            <a:r>
              <a:rPr lang="en-US" altLang="zh-CN" sz="1200"/>
              <a:t>v=0 m/s</a:t>
            </a:r>
            <a:r>
              <a:rPr lang="zh-CN" altLang="en-US" sz="1200"/>
              <a:t>、</a:t>
            </a:r>
            <a:r>
              <a:rPr lang="en-US" altLang="zh-CN" sz="1200"/>
              <a:t>t3=4 s</a:t>
            </a:r>
            <a:r>
              <a:rPr lang="zh-CN" altLang="en-US" sz="1200"/>
              <a:t>；求</a:t>
            </a:r>
            <a:r>
              <a:rPr lang="en-US" altLang="zh-CN" sz="1200"/>
              <a:t> a1</a:t>
            </a:r>
            <a:r>
              <a:rPr lang="zh-CN" altLang="en-US" sz="1200"/>
              <a:t>、</a:t>
            </a:r>
            <a:r>
              <a:rPr lang="en-US" altLang="zh-CN" sz="1200"/>
              <a:t>a2</a:t>
            </a:r>
            <a:r>
              <a:rPr lang="zh-CN" altLang="en-US" sz="1200"/>
              <a:t>、</a:t>
            </a:r>
            <a:r>
              <a:rPr lang="en-US" altLang="zh-CN" sz="1200"/>
              <a:t>a3</a:t>
            </a:r>
            <a:r>
              <a:rPr lang="zh-CN" altLang="en-US" sz="1200"/>
              <a:t>、</a:t>
            </a:r>
            <a:r>
              <a:rPr lang="en-US" altLang="zh-CN" sz="1200"/>
              <a:t>x</a:t>
            </a:r>
            <a:r>
              <a:rPr lang="zh-CN" altLang="en-US" sz="1200"/>
              <a:t>总（转完即删）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第一段：</a:t>
            </a:r>
            <a:r>
              <a:rPr lang="en-US" altLang="zh-CN" sz="1200"/>
              <a:t>a1=(v-v0)/t1=(8-0)/4=2 m/s²</a:t>
            </a:r>
            <a:r>
              <a:rPr lang="zh-CN" altLang="en-US" sz="1200"/>
              <a:t>（知三求二：知</a:t>
            </a:r>
            <a:r>
              <a:rPr lang="en-US" altLang="zh-CN" sz="1200"/>
              <a:t> v0</a:t>
            </a:r>
            <a:r>
              <a:rPr lang="zh-CN" altLang="en-US" sz="1200"/>
              <a:t>、</a:t>
            </a:r>
            <a:r>
              <a:rPr lang="en-US" altLang="zh-CN" sz="1200"/>
              <a:t>v</a:t>
            </a:r>
            <a:r>
              <a:rPr lang="zh-CN" altLang="en-US" sz="1200"/>
              <a:t>、</a:t>
            </a:r>
            <a:r>
              <a:rPr lang="en-US" altLang="zh-CN" sz="1200"/>
              <a:t>t1</a:t>
            </a:r>
            <a:r>
              <a:rPr lang="zh-CN" altLang="en-US" sz="1200"/>
              <a:t>，求</a:t>
            </a:r>
            <a:r>
              <a:rPr lang="en-US" altLang="zh-CN" sz="1200"/>
              <a:t> a1</a:t>
            </a:r>
            <a:r>
              <a:rPr lang="zh-CN" altLang="en-US" sz="1200"/>
              <a:t>）</a:t>
            </a:r>
            <a:r>
              <a:rPr lang="en-US" altLang="zh-CN" sz="1200"/>
              <a:t>
</a:t>
            </a:r>
            <a:r>
              <a:rPr lang="zh-CN" altLang="en-US" sz="1200"/>
              <a:t>第二段：</a:t>
            </a:r>
            <a:r>
              <a:rPr lang="en-US" altLang="zh-CN" sz="1200"/>
              <a:t>a2=(8-8)/2=0 m/s²</a:t>
            </a:r>
            <a:r>
              <a:rPr lang="zh-CN" altLang="en-US" sz="1200"/>
              <a:t>（知三求二：知</a:t>
            </a:r>
            <a:r>
              <a:rPr lang="en-US" altLang="zh-CN" sz="1200"/>
              <a:t> v0</a:t>
            </a:r>
            <a:r>
              <a:rPr lang="zh-CN" altLang="en-US" sz="1200"/>
              <a:t>、</a:t>
            </a:r>
            <a:r>
              <a:rPr lang="en-US" altLang="zh-CN" sz="1200"/>
              <a:t>v</a:t>
            </a:r>
            <a:r>
              <a:rPr lang="zh-CN" altLang="en-US" sz="1200"/>
              <a:t>、</a:t>
            </a:r>
            <a:r>
              <a:rPr lang="en-US" altLang="zh-CN" sz="1200"/>
              <a:t>t2</a:t>
            </a:r>
            <a:r>
              <a:rPr lang="zh-CN" altLang="en-US" sz="1200"/>
              <a:t>，求</a:t>
            </a:r>
            <a:r>
              <a:rPr lang="en-US" altLang="zh-CN" sz="1200"/>
              <a:t> a2</a:t>
            </a:r>
            <a:r>
              <a:rPr lang="zh-CN" altLang="en-US" sz="1200"/>
              <a:t>）</a:t>
            </a:r>
            <a:r>
              <a:rPr lang="en-US" altLang="zh-CN" sz="1200"/>
              <a:t>
</a:t>
            </a:r>
            <a:r>
              <a:rPr lang="zh-CN" altLang="en-US" sz="1200"/>
              <a:t>第三段：</a:t>
            </a:r>
            <a:r>
              <a:rPr lang="en-US" altLang="zh-CN" sz="1200"/>
              <a:t>a3=(0-8)/4=-2 m/s²</a:t>
            </a:r>
            <a:r>
              <a:rPr lang="zh-CN" altLang="en-US" sz="1200"/>
              <a:t>（知三求二：知</a:t>
            </a:r>
            <a:r>
              <a:rPr lang="en-US" altLang="zh-CN" sz="1200"/>
              <a:t> v0</a:t>
            </a:r>
            <a:r>
              <a:rPr lang="zh-CN" altLang="en-US" sz="1200"/>
              <a:t>、</a:t>
            </a:r>
            <a:r>
              <a:rPr lang="en-US" altLang="zh-CN" sz="1200"/>
              <a:t>v</a:t>
            </a:r>
            <a:r>
              <a:rPr lang="zh-CN" altLang="en-US" sz="1200"/>
              <a:t>、</a:t>
            </a:r>
            <a:r>
              <a:rPr lang="en-US" altLang="zh-CN" sz="1200"/>
              <a:t>t3</a:t>
            </a:r>
            <a:r>
              <a:rPr lang="zh-CN" altLang="en-US" sz="1200"/>
              <a:t>，求</a:t>
            </a:r>
            <a:r>
              <a:rPr lang="en-US" altLang="zh-CN" sz="1200"/>
              <a:t> a3</a:t>
            </a:r>
            <a:r>
              <a:rPr lang="zh-CN" altLang="en-US" sz="1200"/>
              <a:t>）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适用条件：匀变速直线运动且初速为</a:t>
            </a:r>
            <a:r>
              <a:rPr lang="en-US" altLang="zh-CN" sz="1200"/>
              <a:t> 0 </a:t>
            </a:r>
            <a:r>
              <a:rPr lang="zh-CN" altLang="en-US" sz="1200"/>
              <a:t>时，</a:t>
            </a:r>
            <a:r>
              <a:rPr lang="en-US" altLang="zh-CN" sz="1200"/>
              <a:t>x=½at² </a:t>
            </a:r>
            <a:r>
              <a:rPr lang="zh-CN" altLang="en-US" sz="1200"/>
              <a:t>或</a:t>
            </a:r>
            <a:r>
              <a:rPr lang="en-US" altLang="zh-CN" sz="1200"/>
              <a:t> x=½vt</a:t>
            </a:r>
            <a:r>
              <a:rPr lang="zh-CN" altLang="en-US" sz="1200"/>
              <a:t>。第一段满足</a:t>
            </a:r>
            <a:r>
              <a:rPr lang="en-US" altLang="zh-CN" sz="1200"/>
              <a:t> v0=0</a:t>
            </a:r>
            <a:r>
              <a:rPr lang="zh-CN" altLang="en-US" sz="1200"/>
              <a:t>，故</a:t>
            </a:r>
            <a:r>
              <a:rPr lang="en-US" altLang="zh-CN" sz="1200"/>
              <a:t> x1=½</a:t>
            </a:r>
            <a:r>
              <a:rPr lang="zh-CN" altLang="en-US" sz="1200"/>
              <a:t>×</a:t>
            </a:r>
            <a:r>
              <a:rPr lang="en-US" altLang="zh-CN" sz="1200"/>
              <a:t>8</a:t>
            </a:r>
            <a:r>
              <a:rPr lang="zh-CN" altLang="en-US" sz="1200"/>
              <a:t>×</a:t>
            </a:r>
            <a:r>
              <a:rPr lang="en-US" altLang="zh-CN" sz="1200"/>
              <a:t>4=16 m</a:t>
            </a:r>
            <a:r>
              <a:rPr lang="zh-CN" altLang="en-US" sz="1200"/>
              <a:t>；第三段末速为</a:t>
            </a:r>
            <a:r>
              <a:rPr lang="en-US" altLang="zh-CN" sz="1200"/>
              <a:t> 0</a:t>
            </a:r>
            <a:r>
              <a:rPr lang="zh-CN" altLang="en-US" sz="1200"/>
              <a:t>，可逆向看作初速为</a:t>
            </a:r>
            <a:r>
              <a:rPr lang="en-US" altLang="zh-CN" sz="1200"/>
              <a:t> 0 </a:t>
            </a:r>
            <a:r>
              <a:rPr lang="zh-CN" altLang="en-US" sz="1200"/>
              <a:t>的匀加速，</a:t>
            </a:r>
            <a:r>
              <a:rPr lang="en-US" altLang="zh-CN" sz="1200"/>
              <a:t>x3=½</a:t>
            </a:r>
            <a:r>
              <a:rPr lang="zh-CN" altLang="en-US" sz="1200"/>
              <a:t>×</a:t>
            </a:r>
            <a:r>
              <a:rPr lang="en-US" altLang="zh-CN" sz="1200"/>
              <a:t>8</a:t>
            </a:r>
            <a:r>
              <a:rPr lang="zh-CN" altLang="en-US" sz="1200"/>
              <a:t>×</a:t>
            </a:r>
            <a:r>
              <a:rPr lang="en-US" altLang="zh-CN" sz="1200"/>
              <a:t>4=16 m</a:t>
            </a:r>
            <a:r>
              <a:rPr lang="zh-CN" altLang="en-US" sz="1200"/>
              <a:t>。条件满足，可用。</a:t>
            </a:r>
            <a:r>
              <a:rPr lang="en-US" altLang="zh-CN" sz="1200"/>
              <a:t>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v=v0+at </a:t>
            </a:r>
            <a:r>
              <a:rPr lang="zh-CN" altLang="en-US" sz="1200"/>
              <a:t>可得</a:t>
            </a:r>
            <a:r>
              <a:rPr lang="en-US" altLang="zh-CN" sz="1200"/>
              <a:t> a=(v-v0)/t</a:t>
            </a:r>
            <a:r>
              <a:rPr lang="zh-CN" altLang="en-US" sz="1200"/>
              <a:t>；根据</a:t>
            </a:r>
            <a:r>
              <a:rPr lang="en-US" altLang="zh-CN" sz="1200"/>
              <a:t> x=v0t+½at² </a:t>
            </a:r>
            <a:r>
              <a:rPr lang="zh-CN" altLang="en-US" sz="1200"/>
              <a:t>可得第一段</a:t>
            </a:r>
            <a:r>
              <a:rPr lang="en-US" altLang="zh-CN" sz="1200"/>
              <a:t> x1=0</a:t>
            </a:r>
            <a:r>
              <a:rPr lang="zh-CN" altLang="en-US" sz="1200"/>
              <a:t>×</a:t>
            </a:r>
            <a:r>
              <a:rPr lang="en-US" altLang="zh-CN" sz="1200"/>
              <a:t>4+½</a:t>
            </a:r>
            <a:r>
              <a:rPr lang="zh-CN" altLang="en-US" sz="1200"/>
              <a:t>×</a:t>
            </a:r>
            <a:r>
              <a:rPr lang="en-US" altLang="zh-CN" sz="1200"/>
              <a:t>2</a:t>
            </a:r>
            <a:r>
              <a:rPr lang="zh-CN" altLang="en-US" sz="1200"/>
              <a:t>×</a:t>
            </a:r>
            <a:r>
              <a:rPr lang="en-US" altLang="zh-CN" sz="1200"/>
              <a:t>4²=16 m</a:t>
            </a:r>
            <a:r>
              <a:rPr lang="zh-CN" altLang="en-US" sz="1200"/>
              <a:t>；第二段</a:t>
            </a:r>
            <a:r>
              <a:rPr lang="en-US" altLang="zh-CN" sz="1200"/>
              <a:t> x2=vt2=8</a:t>
            </a:r>
            <a:r>
              <a:rPr lang="zh-CN" altLang="en-US" sz="1200"/>
              <a:t>×</a:t>
            </a:r>
            <a:r>
              <a:rPr lang="en-US" altLang="zh-CN" sz="1200"/>
              <a:t>2=16 m</a:t>
            </a:r>
            <a:r>
              <a:rPr lang="zh-CN" altLang="en-US" sz="1200"/>
              <a:t>；第三段</a:t>
            </a:r>
            <a:r>
              <a:rPr lang="en-US" altLang="zh-CN" sz="1200"/>
              <a:t> x3=8</a:t>
            </a:r>
            <a:r>
              <a:rPr lang="zh-CN" altLang="en-US" sz="1200"/>
              <a:t>×</a:t>
            </a:r>
            <a:r>
              <a:rPr lang="en-US" altLang="zh-CN" sz="1200"/>
              <a:t>4+½</a:t>
            </a:r>
            <a:r>
              <a:rPr lang="zh-CN" altLang="en-US" sz="1200"/>
              <a:t>×</a:t>
            </a:r>
            <a:r>
              <a:rPr lang="en-US" altLang="zh-CN" sz="1200"/>
              <a:t>(-2)</a:t>
            </a:r>
            <a:r>
              <a:rPr lang="zh-CN" altLang="en-US" sz="1200"/>
              <a:t>×</a:t>
            </a:r>
            <a:r>
              <a:rPr lang="en-US" altLang="zh-CN" sz="1200"/>
              <a:t>4²=32-16=16 m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本题属于</a:t>
            </a:r>
            <a:r>
              <a:rPr lang="en-US" altLang="zh-CN" sz="1200"/>
              <a:t>“v-t </a:t>
            </a:r>
            <a:r>
              <a:rPr lang="zh-CN" altLang="en-US" sz="1200"/>
              <a:t>图像分段模型</a:t>
            </a:r>
            <a:r>
              <a:rPr lang="en-US" altLang="zh-CN" sz="1200"/>
              <a:t>”</a:t>
            </a:r>
            <a:r>
              <a:rPr lang="zh-CN" altLang="en-US" sz="1200"/>
              <a:t>：第一段斜率为正的直线，第二段水平直线，第三段斜率为负的直线；位移等于</a:t>
            </a:r>
            <a:r>
              <a:rPr lang="en-US" altLang="zh-CN" sz="1200"/>
              <a:t> v-t </a:t>
            </a:r>
            <a:r>
              <a:rPr lang="zh-CN" altLang="en-US" sz="1200"/>
              <a:t>图线与</a:t>
            </a:r>
            <a:r>
              <a:rPr lang="en-US" altLang="zh-CN" sz="1200"/>
              <a:t> t </a:t>
            </a:r>
            <a:r>
              <a:rPr lang="zh-CN" altLang="en-US" sz="1200"/>
              <a:t>轴围成的面积。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器材：小车、打点计时器、纸带、刻度尺。步骤：让小车先加速、再匀速、后减速，打出纸带；用刻度尺测各段位移，用</a:t>
            </a:r>
            <a:r>
              <a:rPr lang="en-US" altLang="zh-CN" sz="1200"/>
              <a:t> Δx=aT² </a:t>
            </a:r>
            <a:r>
              <a:rPr lang="zh-CN" altLang="en-US" sz="1200"/>
              <a:t>求加速度。预期现象：第一段相邻位移差为正且恒定，第二段相邻位移差为</a:t>
            </a:r>
            <a:r>
              <a:rPr lang="en-US" altLang="zh-CN" sz="1200"/>
              <a:t> 0</a:t>
            </a:r>
            <a:r>
              <a:rPr lang="zh-CN" altLang="en-US" sz="1200"/>
              <a:t>，第三段相邻位移差为负且恒定。</a:t>
            </a:r>
            <a:r>
              <a:rPr lang="en-US" altLang="zh-CN" sz="1200"/>
              <a:t>
</a:t>
            </a:r>
            <a:r>
              <a:rPr lang="zh-CN" altLang="en-US" sz="1200"/>
              <a:t>【答案】</a:t>
            </a:r>
            <a:r>
              <a:rPr lang="en-US" altLang="zh-CN" sz="1200"/>
              <a:t>
</a:t>
            </a:r>
            <a:r>
              <a:rPr lang="zh-CN" altLang="en-US" sz="1200"/>
              <a:t>第一段加速度</a:t>
            </a:r>
            <a:r>
              <a:rPr lang="en-US" altLang="zh-CN" sz="1200"/>
              <a:t> a1=2 m/s²</a:t>
            </a:r>
            <a:r>
              <a:rPr lang="zh-CN" altLang="en-US" sz="1200"/>
              <a:t>，方向与速度方向相同；</a:t>
            </a:r>
            <a:r>
              <a:rPr lang="en-US" altLang="zh-CN" sz="1200"/>
              <a:t>
</a:t>
            </a:r>
            <a:r>
              <a:rPr lang="zh-CN" altLang="en-US" sz="1200"/>
              <a:t>第二段加速度</a:t>
            </a:r>
            <a:r>
              <a:rPr lang="en-US" altLang="zh-CN" sz="1200"/>
              <a:t> a2=0</a:t>
            </a:r>
            <a:r>
              <a:rPr lang="zh-CN" altLang="en-US" sz="1200"/>
              <a:t>；</a:t>
            </a:r>
            <a:r>
              <a:rPr lang="en-US" altLang="zh-CN" sz="1200"/>
              <a:t>
</a:t>
            </a:r>
            <a:r>
              <a:rPr lang="zh-CN" altLang="en-US" sz="1200"/>
              <a:t>第三段加速度</a:t>
            </a:r>
            <a:r>
              <a:rPr lang="en-US" altLang="zh-CN" sz="1200"/>
              <a:t> a3=-2 m/s²</a:t>
            </a:r>
            <a:r>
              <a:rPr lang="zh-CN" altLang="en-US" sz="1200"/>
              <a:t>，方向与速度方向相反；</a:t>
            </a:r>
            <a:r>
              <a:rPr lang="en-US" altLang="zh-CN" sz="1200"/>
              <a:t>
0</a:t>
            </a:r>
            <a:r>
              <a:rPr lang="zh-CN" altLang="en-US" sz="1200"/>
              <a:t>～</a:t>
            </a:r>
            <a:r>
              <a:rPr lang="en-US" altLang="zh-CN" sz="1200"/>
              <a:t>10 s </a:t>
            </a:r>
            <a:r>
              <a:rPr lang="zh-CN" altLang="en-US" sz="1200"/>
              <a:t>内总位移</a:t>
            </a:r>
            <a:r>
              <a:rPr lang="en-US" altLang="zh-CN" sz="1200"/>
              <a:t> x</a:t>
            </a:r>
            <a:r>
              <a:rPr lang="zh-CN" altLang="en-US" sz="1200"/>
              <a:t>总</a:t>
            </a:r>
            <a:r>
              <a:rPr lang="en-US" altLang="zh-CN" sz="1200"/>
              <a:t>=x1+x2+x3=16+16+16=48 m</a:t>
            </a:r>
            <a:r>
              <a:rPr lang="zh-CN" altLang="en-US" sz="1200"/>
              <a:t>，方向沿运动正方向。</a:t>
            </a:r>
            <a:r>
              <a:rPr lang="en-US" altLang="zh-CN" sz="1200"/>
              <a:t>
</a:t>
            </a:r>
            <a:r>
              <a:rPr lang="zh-CN" altLang="en-US" sz="1200"/>
              <a:t>【自检】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量纲检查：</a:t>
            </a:r>
            <a:r>
              <a:rPr lang="en-US" altLang="zh-CN" sz="1200"/>
              <a:t>a </a:t>
            </a:r>
            <a:r>
              <a:rPr lang="zh-CN" altLang="en-US" sz="1200"/>
              <a:t>的单位</a:t>
            </a:r>
            <a:r>
              <a:rPr lang="en-US" altLang="zh-CN" sz="1200"/>
              <a:t> (m/s)/s=m/s²</a:t>
            </a:r>
            <a:r>
              <a:rPr lang="zh-CN" altLang="en-US" sz="1200"/>
              <a:t>，</a:t>
            </a:r>
            <a:r>
              <a:rPr lang="en-US" altLang="zh-CN" sz="1200"/>
              <a:t>x </a:t>
            </a:r>
            <a:r>
              <a:rPr lang="zh-CN" altLang="en-US" sz="1200"/>
              <a:t>的单位</a:t>
            </a:r>
            <a:r>
              <a:rPr lang="en-US" altLang="zh-CN" sz="1200"/>
              <a:t> m/s·s=m</a:t>
            </a:r>
            <a:r>
              <a:rPr lang="zh-CN" altLang="en-US" sz="1200"/>
              <a:t>，均正确。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回代验算：第一段</a:t>
            </a:r>
            <a:r>
              <a:rPr lang="en-US" altLang="zh-CN" sz="1200"/>
              <a:t> v=v0+a1t1=0+2</a:t>
            </a:r>
            <a:r>
              <a:rPr lang="zh-CN" altLang="en-US" sz="1200"/>
              <a:t>×</a:t>
            </a:r>
            <a:r>
              <a:rPr lang="en-US" altLang="zh-CN" sz="1200"/>
              <a:t>4=8 m/s</a:t>
            </a:r>
            <a:r>
              <a:rPr lang="zh-CN" altLang="en-US" sz="1200"/>
              <a:t>，符合；第三段</a:t>
            </a:r>
            <a:r>
              <a:rPr lang="en-US" altLang="zh-CN" sz="1200"/>
              <a:t> v=v0+a3t3=8+(-2)</a:t>
            </a:r>
            <a:r>
              <a:rPr lang="zh-CN" altLang="en-US" sz="1200"/>
              <a:t>×</a:t>
            </a:r>
            <a:r>
              <a:rPr lang="en-US" altLang="zh-CN" sz="1200"/>
              <a:t>4=0 m/s</a:t>
            </a:r>
            <a:r>
              <a:rPr lang="zh-CN" altLang="en-US" sz="1200"/>
              <a:t>，符合；总位移用平均速度法：</a:t>
            </a:r>
            <a:r>
              <a:rPr lang="en-US" altLang="zh-CN" sz="1200"/>
              <a:t>x1=(0+8)/2</a:t>
            </a:r>
            <a:r>
              <a:rPr lang="zh-CN" altLang="en-US" sz="1200"/>
              <a:t>×</a:t>
            </a:r>
            <a:r>
              <a:rPr lang="en-US" altLang="zh-CN" sz="1200"/>
              <a:t>4=16 m</a:t>
            </a:r>
            <a:r>
              <a:rPr lang="zh-CN" altLang="en-US" sz="1200"/>
              <a:t>，</a:t>
            </a:r>
            <a:r>
              <a:rPr lang="en-US" altLang="zh-CN" sz="1200"/>
              <a:t>x2=8</a:t>
            </a:r>
            <a:r>
              <a:rPr lang="zh-CN" altLang="en-US" sz="1200"/>
              <a:t>×</a:t>
            </a:r>
            <a:r>
              <a:rPr lang="en-US" altLang="zh-CN" sz="1200"/>
              <a:t>2=16 m</a:t>
            </a:r>
            <a:r>
              <a:rPr lang="zh-CN" altLang="en-US" sz="1200"/>
              <a:t>，</a:t>
            </a:r>
            <a:r>
              <a:rPr lang="en-US" altLang="zh-CN" sz="1200"/>
              <a:t>x3=(8+0)/2</a:t>
            </a:r>
            <a:r>
              <a:rPr lang="zh-CN" altLang="en-US" sz="1200"/>
              <a:t>×</a:t>
            </a:r>
            <a:r>
              <a:rPr lang="en-US" altLang="zh-CN" sz="1200"/>
              <a:t>4=16 m</a:t>
            </a:r>
            <a:r>
              <a:rPr lang="zh-CN" altLang="en-US" sz="1200"/>
              <a:t>，合计</a:t>
            </a:r>
            <a:r>
              <a:rPr lang="en-US" altLang="zh-CN" sz="1200"/>
              <a:t> 48 m</a:t>
            </a:r>
            <a:r>
              <a:rPr lang="zh-CN" altLang="en-US" sz="1200"/>
              <a:t>，与上面一致。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陷阱检查：本题没有</a:t>
            </a:r>
            <a:r>
              <a:rPr lang="en-US" altLang="zh-CN" sz="1200"/>
              <a:t>“10 s </a:t>
            </a:r>
            <a:r>
              <a:rPr lang="zh-CN" altLang="en-US" sz="1200"/>
              <a:t>内</a:t>
            </a:r>
            <a:r>
              <a:rPr lang="en-US" altLang="zh-CN" sz="1200"/>
              <a:t>”</a:t>
            </a:r>
            <a:r>
              <a:rPr lang="zh-CN" altLang="en-US" sz="1200"/>
              <a:t>之外的额外运动，也没有</a:t>
            </a:r>
            <a:r>
              <a:rPr lang="en-US" altLang="zh-CN" sz="1200"/>
              <a:t>“</a:t>
            </a:r>
            <a:r>
              <a:rPr lang="zh-CN" altLang="en-US" sz="1200"/>
              <a:t>上升到最高点后又落回</a:t>
            </a:r>
            <a:r>
              <a:rPr lang="en-US" altLang="zh-CN" sz="1200"/>
              <a:t>”</a:t>
            </a:r>
            <a:r>
              <a:rPr lang="zh-CN" altLang="en-US" sz="1200"/>
              <a:t>的情形；第三段末速度恰为</a:t>
            </a:r>
            <a:r>
              <a:rPr lang="en-US" altLang="zh-CN" sz="1200"/>
              <a:t> 0</a:t>
            </a:r>
            <a:r>
              <a:rPr lang="zh-CN" altLang="en-US" sz="1200"/>
              <a:t>，未反向，故总位移等于总路程，均为</a:t>
            </a:r>
            <a:r>
              <a:rPr lang="en-US" altLang="zh-CN" sz="1200"/>
              <a:t> 48 m</a:t>
            </a:r>
            <a:r>
              <a:rPr lang="zh-CN" altLang="en-US" sz="1200"/>
              <a:t>。</a:t>
            </a:r>
            <a:endParaRPr lang="zh-CN" alt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T05  </a:t>
            </a:r>
            <a:r>
              <a:rPr lang="zh-CN" altLang="en-US" sz="2400" b="1"/>
              <a:t>刹车问题</a:t>
            </a:r>
            <a:r>
              <a:rPr lang="en-US" altLang="zh-CN" sz="2400" b="1"/>
              <a:t>(</a:t>
            </a:r>
            <a:r>
              <a:rPr lang="zh-CN" altLang="en-US" sz="2400" b="1"/>
              <a:t>陷阱题</a:t>
            </a:r>
            <a:r>
              <a:rPr lang="en-US" altLang="zh-CN" sz="2400" b="1"/>
              <a:t>)</a:t>
            </a:r>
            <a:endParaRPr lang="en-US" altLang="zh-CN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6554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题目：某新能源汽车在平直路面上以</a:t>
            </a:r>
            <a:r>
              <a:rPr lang="en-US" altLang="zh-CN" sz="1200"/>
              <a:t> 12 m/s </a:t>
            </a:r>
            <a:r>
              <a:rPr lang="zh-CN" altLang="en-US" sz="1200"/>
              <a:t>的速度匀速行驶，刹车后做匀减速直线运动，</a:t>
            </a:r>
            <a:r>
              <a:rPr lang="en-US" altLang="zh-CN" sz="1200"/>
              <a:t>2 s </a:t>
            </a:r>
            <a:r>
              <a:rPr lang="zh-CN" altLang="en-US" sz="1200"/>
              <a:t>末的速度为</a:t>
            </a:r>
            <a:r>
              <a:rPr lang="en-US" altLang="zh-CN" sz="1200"/>
              <a:t> 8 m/s</a:t>
            </a:r>
            <a:r>
              <a:rPr lang="zh-CN" altLang="en-US" sz="1200"/>
              <a:t>。求：</a:t>
            </a:r>
            <a:r>
              <a:rPr lang="en-US" altLang="zh-CN" sz="1200"/>
              <a:t>(1) </a:t>
            </a:r>
            <a:r>
              <a:rPr lang="zh-CN" altLang="en-US" sz="1200"/>
              <a:t>刹车后汽车的加速度；</a:t>
            </a:r>
            <a:r>
              <a:rPr lang="en-US" altLang="zh-CN" sz="1200"/>
              <a:t>(2) </a:t>
            </a:r>
            <a:r>
              <a:rPr lang="zh-CN" altLang="en-US" sz="1200"/>
              <a:t>刹车后</a:t>
            </a:r>
            <a:r>
              <a:rPr lang="en-US" altLang="zh-CN" sz="1200"/>
              <a:t> 10 s </a:t>
            </a:r>
            <a:r>
              <a:rPr lang="zh-CN" altLang="en-US" sz="1200"/>
              <a:t>内汽车通过的位移大小。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【读题】汽车以</a:t>
            </a:r>
            <a:r>
              <a:rPr lang="en-US" altLang="zh-CN" sz="1200"/>
              <a:t> 12 m/s </a:t>
            </a:r>
            <a:r>
              <a:rPr lang="zh-CN" altLang="en-US" sz="1200"/>
              <a:t>匀速行驶，刹车后匀减速，</a:t>
            </a:r>
            <a:r>
              <a:rPr lang="en-US" altLang="zh-CN" sz="1200"/>
              <a:t>2 s </a:t>
            </a:r>
            <a:r>
              <a:rPr lang="zh-CN" altLang="en-US" sz="1200"/>
              <a:t>末速度</a:t>
            </a:r>
            <a:r>
              <a:rPr lang="en-US" altLang="zh-CN" sz="1200"/>
              <a:t> 8 m/s</a:t>
            </a:r>
            <a:r>
              <a:rPr lang="zh-CN" altLang="en-US" sz="1200"/>
              <a:t>，求加速度和刹车后</a:t>
            </a:r>
            <a:r>
              <a:rPr lang="en-US" altLang="zh-CN" sz="1200"/>
              <a:t> 10 s </a:t>
            </a:r>
            <a:r>
              <a:rPr lang="zh-CN" altLang="en-US" sz="1200"/>
              <a:t>内位移。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v0=12 m/s</a:t>
            </a:r>
            <a:r>
              <a:rPr lang="zh-CN" altLang="en-US" sz="1200"/>
              <a:t>、</a:t>
            </a:r>
            <a:r>
              <a:rPr lang="en-US" altLang="zh-CN" sz="1200"/>
              <a:t>t1=2 s</a:t>
            </a:r>
            <a:r>
              <a:rPr lang="zh-CN" altLang="en-US" sz="1200"/>
              <a:t>、</a:t>
            </a:r>
            <a:r>
              <a:rPr lang="en-US" altLang="zh-CN" sz="1200"/>
              <a:t>v1=8 m/s</a:t>
            </a:r>
            <a:r>
              <a:rPr lang="zh-CN" altLang="en-US" sz="1200"/>
              <a:t>、</a:t>
            </a:r>
            <a:r>
              <a:rPr lang="en-US" altLang="zh-CN" sz="1200"/>
              <a:t>t=10 s</a:t>
            </a:r>
            <a:r>
              <a:rPr lang="zh-CN" altLang="en-US" sz="1200"/>
              <a:t>、求</a:t>
            </a:r>
            <a:r>
              <a:rPr lang="en-US" altLang="zh-CN" sz="1200"/>
              <a:t> a </a:t>
            </a:r>
            <a:r>
              <a:rPr lang="zh-CN" altLang="en-US" sz="1200"/>
              <a:t>和</a:t>
            </a:r>
            <a:r>
              <a:rPr lang="en-US" altLang="zh-CN" sz="1200"/>
              <a:t> x(</a:t>
            </a:r>
            <a:r>
              <a:rPr lang="zh-CN" altLang="en-US" sz="1200"/>
              <a:t>把文字转成量，转完即删</a:t>
            </a:r>
            <a:r>
              <a:rPr lang="en-US" altLang="zh-CN" sz="1200"/>
              <a:t>)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取初速度方向为正方向。已知</a:t>
            </a:r>
            <a:r>
              <a:rPr lang="en-US" altLang="zh-CN" sz="1200"/>
              <a:t> v0=12 m/s</a:t>
            </a:r>
            <a:r>
              <a:rPr lang="zh-CN" altLang="en-US" sz="1200"/>
              <a:t>、</a:t>
            </a:r>
            <a:r>
              <a:rPr lang="en-US" altLang="zh-CN" sz="1200"/>
              <a:t>v1=8 m/s</a:t>
            </a:r>
            <a:r>
              <a:rPr lang="zh-CN" altLang="en-US" sz="1200"/>
              <a:t>、</a:t>
            </a:r>
            <a:r>
              <a:rPr lang="en-US" altLang="zh-CN" sz="1200"/>
              <a:t>t1=2 s</a:t>
            </a:r>
            <a:r>
              <a:rPr lang="zh-CN" altLang="en-US" sz="1200"/>
              <a:t>，求</a:t>
            </a:r>
            <a:r>
              <a:rPr lang="en-US" altLang="zh-CN" sz="1200"/>
              <a:t> a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由</a:t>
            </a:r>
            <a:r>
              <a:rPr lang="en-US" altLang="zh-CN" sz="1200"/>
              <a:t> v=v0+at </a:t>
            </a:r>
            <a:r>
              <a:rPr lang="zh-CN" altLang="en-US" sz="1200"/>
              <a:t>得</a:t>
            </a:r>
            <a:r>
              <a:rPr lang="en-US" altLang="zh-CN" sz="1200"/>
              <a:t> a=(v1-v0)/t1=(8-12)/2=-2 m/s²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负号表示加速度方向与初速度方向相反，大小为</a:t>
            </a:r>
            <a:r>
              <a:rPr lang="en-US" altLang="zh-CN" sz="1200"/>
              <a:t> 2 m/s²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适用条件：匀减速直线运动，先判断刹车停止时间。由</a:t>
            </a:r>
            <a:r>
              <a:rPr lang="en-US" altLang="zh-CN" sz="1200"/>
              <a:t> 0=v0+at </a:t>
            </a:r>
            <a:r>
              <a:rPr lang="zh-CN" altLang="en-US" sz="1200"/>
              <a:t>得</a:t>
            </a:r>
            <a:r>
              <a:rPr lang="en-US" altLang="zh-CN" sz="1200"/>
              <a:t> t</a:t>
            </a:r>
            <a:r>
              <a:rPr lang="zh-CN" altLang="en-US" sz="1200"/>
              <a:t>停</a:t>
            </a:r>
            <a:r>
              <a:rPr lang="en-US" altLang="zh-CN" sz="1200"/>
              <a:t>=(0-v0)/a=(0-12)/(-2)=6 s</a:t>
            </a:r>
            <a:r>
              <a:rPr lang="zh-CN" altLang="en-US" sz="1200"/>
              <a:t>。因为</a:t>
            </a:r>
            <a:r>
              <a:rPr lang="en-US" altLang="zh-CN" sz="1200"/>
              <a:t> 10 s&gt;6 s</a:t>
            </a:r>
            <a:r>
              <a:rPr lang="zh-CN" altLang="en-US" sz="1200"/>
              <a:t>，所以</a:t>
            </a:r>
            <a:r>
              <a:rPr lang="en-US" altLang="zh-CN" sz="1200"/>
              <a:t> 10 s </a:t>
            </a:r>
            <a:r>
              <a:rPr lang="zh-CN" altLang="en-US" sz="1200"/>
              <a:t>内位移等于</a:t>
            </a:r>
            <a:r>
              <a:rPr lang="en-US" altLang="zh-CN" sz="1200"/>
              <a:t> 6 s </a:t>
            </a:r>
            <a:r>
              <a:rPr lang="zh-CN" altLang="en-US" sz="1200"/>
              <a:t>内位移，不能直接代</a:t>
            </a:r>
            <a:r>
              <a:rPr lang="en-US" altLang="zh-CN" sz="1200"/>
              <a:t> t=10 s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v=v0+at </a:t>
            </a:r>
            <a:r>
              <a:rPr lang="zh-CN" altLang="en-US" sz="1200"/>
              <a:t>可得刹车停止时间</a:t>
            </a:r>
            <a:r>
              <a:rPr lang="en-US" altLang="zh-CN" sz="1200"/>
              <a:t> t</a:t>
            </a:r>
            <a:r>
              <a:rPr lang="zh-CN" altLang="en-US" sz="1200"/>
              <a:t>停</a:t>
            </a:r>
            <a:r>
              <a:rPr lang="en-US" altLang="zh-CN" sz="1200"/>
              <a:t>=-v0/a</a:t>
            </a:r>
            <a:r>
              <a:rPr lang="zh-CN" altLang="en-US" sz="1200"/>
              <a:t>；根据</a:t>
            </a:r>
            <a:r>
              <a:rPr lang="en-US" altLang="zh-CN" sz="1200"/>
              <a:t> x=v0t+½at² </a:t>
            </a:r>
            <a:r>
              <a:rPr lang="zh-CN" altLang="en-US" sz="1200"/>
              <a:t>可得</a:t>
            </a:r>
            <a:r>
              <a:rPr lang="en-US" altLang="zh-CN" sz="1200"/>
              <a:t> x=v0t</a:t>
            </a:r>
            <a:r>
              <a:rPr lang="zh-CN" altLang="en-US" sz="1200"/>
              <a:t>停</a:t>
            </a:r>
            <a:r>
              <a:rPr lang="en-US" altLang="zh-CN" sz="1200"/>
              <a:t>+½at</a:t>
            </a:r>
            <a:r>
              <a:rPr lang="zh-CN" altLang="en-US" sz="1200"/>
              <a:t>停</a:t>
            </a:r>
            <a:r>
              <a:rPr lang="en-US" altLang="zh-CN" sz="1200"/>
              <a:t>²=12</a:t>
            </a:r>
            <a:r>
              <a:rPr lang="zh-CN" altLang="en-US" sz="1200"/>
              <a:t>×</a:t>
            </a:r>
            <a:r>
              <a:rPr lang="en-US" altLang="zh-CN" sz="1200"/>
              <a:t>6+½</a:t>
            </a:r>
            <a:r>
              <a:rPr lang="zh-CN" altLang="en-US" sz="1200"/>
              <a:t>×</a:t>
            </a:r>
            <a:r>
              <a:rPr lang="en-US" altLang="zh-CN" sz="1200"/>
              <a:t>(-2)</a:t>
            </a:r>
            <a:r>
              <a:rPr lang="zh-CN" altLang="en-US" sz="1200"/>
              <a:t>×</a:t>
            </a:r>
            <a:r>
              <a:rPr lang="en-US" altLang="zh-CN" sz="1200"/>
              <a:t>6²=72-36=36 m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归为</a:t>
            </a:r>
            <a:r>
              <a:rPr lang="en-US" altLang="zh-CN" sz="1200"/>
              <a:t>“</a:t>
            </a:r>
            <a:r>
              <a:rPr lang="zh-CN" altLang="en-US" sz="1200"/>
              <a:t>刹车类匀减速直线运动模型</a:t>
            </a:r>
            <a:r>
              <a:rPr lang="en-US" altLang="zh-CN" sz="1200"/>
              <a:t>”</a:t>
            </a:r>
            <a:r>
              <a:rPr lang="zh-CN" altLang="en-US" sz="1200"/>
              <a:t>：先算停止时间，再判断题目时间是否超过停止时间。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器材：小车、斜面、刻度尺、计时器。步骤：让小车以初速度</a:t>
            </a:r>
            <a:r>
              <a:rPr lang="en-US" altLang="zh-CN" sz="1200"/>
              <a:t> 12 m/s </a:t>
            </a:r>
            <a:r>
              <a:rPr lang="zh-CN" altLang="en-US" sz="1200"/>
              <a:t>等效比例下滑，记录</a:t>
            </a:r>
            <a:r>
              <a:rPr lang="en-US" altLang="zh-CN" sz="1200"/>
              <a:t> 2 s </a:t>
            </a:r>
            <a:r>
              <a:rPr lang="zh-CN" altLang="en-US" sz="1200"/>
              <a:t>末速度，验证</a:t>
            </a:r>
            <a:r>
              <a:rPr lang="en-US" altLang="zh-CN" sz="1200"/>
              <a:t> a=-2 m/s²</a:t>
            </a:r>
            <a:r>
              <a:rPr lang="zh-CN" altLang="en-US" sz="1200"/>
              <a:t>；再记录到停止所用时间约</a:t>
            </a:r>
            <a:r>
              <a:rPr lang="en-US" altLang="zh-CN" sz="1200"/>
              <a:t> 6 s</a:t>
            </a:r>
            <a:r>
              <a:rPr lang="zh-CN" altLang="en-US" sz="1200"/>
              <a:t>，测位移约</a:t>
            </a:r>
            <a:r>
              <a:rPr lang="en-US" altLang="zh-CN" sz="1200"/>
              <a:t> 36 m</a:t>
            </a:r>
            <a:r>
              <a:rPr lang="zh-CN" altLang="en-US" sz="1200"/>
              <a:t>。预期现象：</a:t>
            </a:r>
            <a:r>
              <a:rPr lang="en-US" altLang="zh-CN" sz="1200"/>
              <a:t>10 s </a:t>
            </a:r>
            <a:r>
              <a:rPr lang="zh-CN" altLang="en-US" sz="1200"/>
              <a:t>内小车早已停止，位移不再增加。</a:t>
            </a:r>
            <a:r>
              <a:rPr lang="en-US" altLang="zh-CN" sz="1200"/>
              <a:t>
</a:t>
            </a:r>
            <a:r>
              <a:rPr lang="zh-CN" altLang="en-US" sz="1200"/>
              <a:t>【答案】</a:t>
            </a:r>
            <a:r>
              <a:rPr lang="en-US" altLang="zh-CN" sz="1200"/>
              <a:t>
(1) </a:t>
            </a:r>
            <a:r>
              <a:rPr lang="zh-CN" altLang="en-US" sz="1200"/>
              <a:t>加速度</a:t>
            </a:r>
            <a:r>
              <a:rPr lang="en-US" altLang="zh-CN" sz="1200"/>
              <a:t> a=-2 m/s²</a:t>
            </a:r>
            <a:r>
              <a:rPr lang="zh-CN" altLang="en-US" sz="1200"/>
              <a:t>，即大小为</a:t>
            </a:r>
            <a:r>
              <a:rPr lang="en-US" altLang="zh-CN" sz="1200"/>
              <a:t> 2 m/s²</a:t>
            </a:r>
            <a:r>
              <a:rPr lang="zh-CN" altLang="en-US" sz="1200"/>
              <a:t>，方向与初速度方向相反。</a:t>
            </a:r>
            <a:r>
              <a:rPr lang="en-US" altLang="zh-CN" sz="1200"/>
              <a:t>
(2) </a:t>
            </a:r>
            <a:r>
              <a:rPr lang="zh-CN" altLang="en-US" sz="1200"/>
              <a:t>刹车后</a:t>
            </a:r>
            <a:r>
              <a:rPr lang="en-US" altLang="zh-CN" sz="1200"/>
              <a:t> 10 s </a:t>
            </a:r>
            <a:r>
              <a:rPr lang="zh-CN" altLang="en-US" sz="1200"/>
              <a:t>内位移大小为</a:t>
            </a:r>
            <a:r>
              <a:rPr lang="en-US" altLang="zh-CN" sz="1200"/>
              <a:t> 36 m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【自检】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量纲检查：</a:t>
            </a:r>
            <a:r>
              <a:rPr lang="en-US" altLang="zh-CN" sz="1200"/>
              <a:t>a </a:t>
            </a:r>
            <a:r>
              <a:rPr lang="zh-CN" altLang="en-US" sz="1200"/>
              <a:t>的单位</a:t>
            </a:r>
            <a:r>
              <a:rPr lang="en-US" altLang="zh-CN" sz="1200"/>
              <a:t> m/s²</a:t>
            </a:r>
            <a:r>
              <a:rPr lang="zh-CN" altLang="en-US" sz="1200"/>
              <a:t>，</a:t>
            </a:r>
            <a:r>
              <a:rPr lang="en-US" altLang="zh-CN" sz="1200"/>
              <a:t>x </a:t>
            </a:r>
            <a:r>
              <a:rPr lang="zh-CN" altLang="en-US" sz="1200"/>
              <a:t>的单位</a:t>
            </a:r>
            <a:r>
              <a:rPr lang="en-US" altLang="zh-CN" sz="1200"/>
              <a:t> m</a:t>
            </a:r>
            <a:r>
              <a:rPr lang="zh-CN" altLang="en-US" sz="1200"/>
              <a:t>，均正确。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回代验算：</a:t>
            </a:r>
            <a:r>
              <a:rPr lang="en-US" altLang="zh-CN" sz="1200"/>
              <a:t>v1=v0+at1=12+(-2)</a:t>
            </a:r>
            <a:r>
              <a:rPr lang="zh-CN" altLang="en-US" sz="1200"/>
              <a:t>×</a:t>
            </a:r>
            <a:r>
              <a:rPr lang="en-US" altLang="zh-CN" sz="1200"/>
              <a:t>2=8 m/s</a:t>
            </a:r>
            <a:r>
              <a:rPr lang="zh-CN" altLang="en-US" sz="1200"/>
              <a:t>，符合题意；</a:t>
            </a:r>
            <a:r>
              <a:rPr lang="en-US" altLang="zh-CN" sz="1200"/>
              <a:t>x=12</a:t>
            </a:r>
            <a:r>
              <a:rPr lang="zh-CN" altLang="en-US" sz="1200"/>
              <a:t>×</a:t>
            </a:r>
            <a:r>
              <a:rPr lang="en-US" altLang="zh-CN" sz="1200"/>
              <a:t>6+½</a:t>
            </a:r>
            <a:r>
              <a:rPr lang="zh-CN" altLang="en-US" sz="1200"/>
              <a:t>×</a:t>
            </a:r>
            <a:r>
              <a:rPr lang="en-US" altLang="zh-CN" sz="1200"/>
              <a:t>(-2)</a:t>
            </a:r>
            <a:r>
              <a:rPr lang="zh-CN" altLang="en-US" sz="1200"/>
              <a:t>×</a:t>
            </a:r>
            <a:r>
              <a:rPr lang="en-US" altLang="zh-CN" sz="1200"/>
              <a:t>6²=36 m</a:t>
            </a:r>
            <a:r>
              <a:rPr lang="zh-CN" altLang="en-US" sz="1200"/>
              <a:t>，正确。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陷阱检查：</a:t>
            </a:r>
            <a:r>
              <a:rPr lang="en-US" altLang="zh-CN" sz="1200"/>
              <a:t>10 s </a:t>
            </a:r>
            <a:r>
              <a:rPr lang="zh-CN" altLang="en-US" sz="1200"/>
              <a:t>内不能直接代入</a:t>
            </a:r>
            <a:r>
              <a:rPr lang="en-US" altLang="zh-CN" sz="1200"/>
              <a:t> t=10 s</a:t>
            </a:r>
            <a:r>
              <a:rPr lang="zh-CN" altLang="en-US" sz="1200"/>
              <a:t>，因为汽车</a:t>
            </a:r>
            <a:r>
              <a:rPr lang="en-US" altLang="zh-CN" sz="1200"/>
              <a:t> 6 s </a:t>
            </a:r>
            <a:r>
              <a:rPr lang="zh-CN" altLang="en-US" sz="1200"/>
              <a:t>末已停止，后</a:t>
            </a:r>
            <a:r>
              <a:rPr lang="en-US" altLang="zh-CN" sz="1200"/>
              <a:t> 4 s </a:t>
            </a:r>
            <a:r>
              <a:rPr lang="zh-CN" altLang="en-US" sz="1200"/>
              <a:t>位移为</a:t>
            </a:r>
            <a:r>
              <a:rPr lang="en-US" altLang="zh-CN" sz="1200"/>
              <a:t> 0</a:t>
            </a:r>
            <a:r>
              <a:rPr lang="zh-CN" altLang="en-US" sz="1200"/>
              <a:t>，故</a:t>
            </a:r>
            <a:r>
              <a:rPr lang="en-US" altLang="zh-CN" sz="1200"/>
              <a:t> 10 s </a:t>
            </a:r>
            <a:r>
              <a:rPr lang="zh-CN" altLang="en-US" sz="1200"/>
              <a:t>内位移仍为</a:t>
            </a:r>
            <a:r>
              <a:rPr lang="en-US" altLang="zh-CN" sz="1200"/>
              <a:t> 36 m</a:t>
            </a:r>
            <a:r>
              <a:rPr lang="zh-CN" altLang="en-US" sz="1200"/>
              <a:t>。</a:t>
            </a:r>
            <a:endParaRPr lang="zh-CN" alt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T06  </a:t>
            </a:r>
            <a:r>
              <a:rPr lang="zh-CN" altLang="en-US" sz="2400" b="1"/>
              <a:t>知三求二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5815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题目：汽车以</a:t>
            </a:r>
            <a:r>
              <a:rPr lang="en-US" altLang="zh-CN" sz="1200"/>
              <a:t> 10 m/s </a:t>
            </a:r>
            <a:r>
              <a:rPr lang="zh-CN" altLang="en-US" sz="1200"/>
              <a:t>的初速度做匀加速直线运动，加速度为</a:t>
            </a:r>
            <a:r>
              <a:rPr lang="en-US" altLang="zh-CN" sz="1200"/>
              <a:t> 2 m/s²</a:t>
            </a:r>
            <a:r>
              <a:rPr lang="zh-CN" altLang="en-US" sz="1200"/>
              <a:t>。求它</a:t>
            </a:r>
            <a:r>
              <a:rPr lang="en-US" altLang="zh-CN" sz="1200"/>
              <a:t> 4 s </a:t>
            </a:r>
            <a:r>
              <a:rPr lang="zh-CN" altLang="en-US" sz="1200"/>
              <a:t>内的位移以及</a:t>
            </a:r>
            <a:r>
              <a:rPr lang="en-US" altLang="zh-CN" sz="1200"/>
              <a:t> 4 s </a:t>
            </a:r>
            <a:r>
              <a:rPr lang="zh-CN" altLang="en-US" sz="1200"/>
              <a:t>末的速度。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【读题】汽车初速度</a:t>
            </a:r>
            <a:r>
              <a:rPr lang="en-US" altLang="zh-CN" sz="1200"/>
              <a:t> 10 m/s</a:t>
            </a:r>
            <a:r>
              <a:rPr lang="zh-CN" altLang="en-US" sz="1200"/>
              <a:t>、加速度</a:t>
            </a:r>
            <a:r>
              <a:rPr lang="en-US" altLang="zh-CN" sz="1200"/>
              <a:t> 2 m/s² </a:t>
            </a:r>
            <a:r>
              <a:rPr lang="zh-CN" altLang="en-US" sz="1200"/>
              <a:t>做匀加速直线运动，求</a:t>
            </a:r>
            <a:r>
              <a:rPr lang="en-US" altLang="zh-CN" sz="1200"/>
              <a:t> 4 s </a:t>
            </a:r>
            <a:r>
              <a:rPr lang="zh-CN" altLang="en-US" sz="1200"/>
              <a:t>内的位移和</a:t>
            </a:r>
            <a:r>
              <a:rPr lang="en-US" altLang="zh-CN" sz="1200"/>
              <a:t> 4 s </a:t>
            </a:r>
            <a:r>
              <a:rPr lang="zh-CN" altLang="en-US" sz="1200"/>
              <a:t>末的速度。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v0=10 m/s</a:t>
            </a:r>
            <a:r>
              <a:rPr lang="zh-CN" altLang="en-US" sz="1200"/>
              <a:t>、</a:t>
            </a:r>
            <a:r>
              <a:rPr lang="en-US" altLang="zh-CN" sz="1200"/>
              <a:t>a=2 m/s²</a:t>
            </a:r>
            <a:r>
              <a:rPr lang="zh-CN" altLang="en-US" sz="1200"/>
              <a:t>、</a:t>
            </a:r>
            <a:r>
              <a:rPr lang="en-US" altLang="zh-CN" sz="1200"/>
              <a:t>t=4 s(</a:t>
            </a:r>
            <a:r>
              <a:rPr lang="zh-CN" altLang="en-US" sz="1200"/>
              <a:t>把文字转成量，转完即删</a:t>
            </a:r>
            <a:r>
              <a:rPr lang="en-US" altLang="zh-CN" sz="1200"/>
              <a:t>)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运动学五个量</a:t>
            </a:r>
            <a:r>
              <a:rPr lang="en-US" altLang="zh-CN" sz="1200"/>
              <a:t> v0</a:t>
            </a:r>
            <a:r>
              <a:rPr lang="zh-CN" altLang="en-US" sz="1200"/>
              <a:t>、</a:t>
            </a:r>
            <a:r>
              <a:rPr lang="en-US" altLang="zh-CN" sz="1200"/>
              <a:t>v</a:t>
            </a:r>
            <a:r>
              <a:rPr lang="zh-CN" altLang="en-US" sz="1200"/>
              <a:t>、</a:t>
            </a:r>
            <a:r>
              <a:rPr lang="en-US" altLang="zh-CN" sz="1200"/>
              <a:t>a</a:t>
            </a:r>
            <a:r>
              <a:rPr lang="zh-CN" altLang="en-US" sz="1200"/>
              <a:t>、</a:t>
            </a:r>
            <a:r>
              <a:rPr lang="en-US" altLang="zh-CN" sz="1200"/>
              <a:t>t</a:t>
            </a:r>
            <a:r>
              <a:rPr lang="zh-CN" altLang="en-US" sz="1200"/>
              <a:t>、</a:t>
            </a:r>
            <a:r>
              <a:rPr lang="en-US" altLang="zh-CN" sz="1200"/>
              <a:t>x </a:t>
            </a:r>
            <a:r>
              <a:rPr lang="zh-CN" altLang="en-US" sz="1200"/>
              <a:t>中，已知</a:t>
            </a:r>
            <a:r>
              <a:rPr lang="en-US" altLang="zh-CN" sz="1200"/>
              <a:t> v0=10 m/s</a:t>
            </a:r>
            <a:r>
              <a:rPr lang="zh-CN" altLang="en-US" sz="1200"/>
              <a:t>、</a:t>
            </a:r>
            <a:r>
              <a:rPr lang="en-US" altLang="zh-CN" sz="1200"/>
              <a:t>a=2 m/s²</a:t>
            </a:r>
            <a:r>
              <a:rPr lang="zh-CN" altLang="en-US" sz="1200"/>
              <a:t>、</a:t>
            </a:r>
            <a:r>
              <a:rPr lang="en-US" altLang="zh-CN" sz="1200"/>
              <a:t>t=4 s</a:t>
            </a:r>
            <a:r>
              <a:rPr lang="zh-CN" altLang="en-US" sz="1200"/>
              <a:t>，求</a:t>
            </a:r>
            <a:r>
              <a:rPr lang="en-US" altLang="zh-CN" sz="1200"/>
              <a:t> x </a:t>
            </a:r>
            <a:r>
              <a:rPr lang="zh-CN" altLang="en-US" sz="1200"/>
              <a:t>和</a:t>
            </a:r>
            <a:r>
              <a:rPr lang="en-US" altLang="zh-CN" sz="1200"/>
              <a:t> v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求末速度：</a:t>
            </a:r>
            <a:r>
              <a:rPr lang="en-US" altLang="zh-CN" sz="1200"/>
              <a:t>v=v0+at=10+2</a:t>
            </a:r>
            <a:r>
              <a:rPr lang="zh-CN" altLang="en-US" sz="1200"/>
              <a:t>×</a:t>
            </a:r>
            <a:r>
              <a:rPr lang="en-US" altLang="zh-CN" sz="1200"/>
              <a:t>4=18 m/s
</a:t>
            </a:r>
            <a:r>
              <a:rPr lang="zh-CN" altLang="en-US" sz="1200"/>
              <a:t>求位移：</a:t>
            </a:r>
            <a:r>
              <a:rPr lang="en-US" altLang="zh-CN" sz="1200"/>
              <a:t>x=v0t+(1/2)at²=10</a:t>
            </a:r>
            <a:r>
              <a:rPr lang="zh-CN" altLang="en-US" sz="1200"/>
              <a:t>×</a:t>
            </a:r>
            <a:r>
              <a:rPr lang="en-US" altLang="zh-CN" sz="1200"/>
              <a:t>4+(1/2)</a:t>
            </a:r>
            <a:r>
              <a:rPr lang="zh-CN" altLang="en-US" sz="1200"/>
              <a:t>×</a:t>
            </a:r>
            <a:r>
              <a:rPr lang="en-US" altLang="zh-CN" sz="1200"/>
              <a:t>2</a:t>
            </a:r>
            <a:r>
              <a:rPr lang="zh-CN" altLang="en-US" sz="1200"/>
              <a:t>×</a:t>
            </a:r>
            <a:r>
              <a:rPr lang="en-US" altLang="zh-CN" sz="1200"/>
              <a:t>4²=40+16=56 m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适用条件：匀变速直线运动，且已知</a:t>
            </a:r>
            <a:r>
              <a:rPr lang="en-US" altLang="zh-CN" sz="1200"/>
              <a:t> v0</a:t>
            </a:r>
            <a:r>
              <a:rPr lang="zh-CN" altLang="en-US" sz="1200"/>
              <a:t>、</a:t>
            </a:r>
            <a:r>
              <a:rPr lang="en-US" altLang="zh-CN" sz="1200"/>
              <a:t>a</a:t>
            </a:r>
            <a:r>
              <a:rPr lang="zh-CN" altLang="en-US" sz="1200"/>
              <a:t>、</a:t>
            </a:r>
            <a:r>
              <a:rPr lang="en-US" altLang="zh-CN" sz="1200"/>
              <a:t>t </a:t>
            </a:r>
            <a:r>
              <a:rPr lang="zh-CN" altLang="en-US" sz="1200"/>
              <a:t>求</a:t>
            </a:r>
            <a:r>
              <a:rPr lang="en-US" altLang="zh-CN" sz="1200"/>
              <a:t> x</a:t>
            </a:r>
            <a:r>
              <a:rPr lang="zh-CN" altLang="en-US" sz="1200"/>
              <a:t>。条件满足，可用</a:t>
            </a:r>
            <a:r>
              <a:rPr lang="en-US" altLang="zh-CN" sz="1200"/>
              <a:t> x=v0t+(1/2)at² </a:t>
            </a:r>
            <a:r>
              <a:rPr lang="zh-CN" altLang="en-US" sz="1200"/>
              <a:t>直接秒算，得</a:t>
            </a:r>
            <a:r>
              <a:rPr lang="en-US" altLang="zh-CN" sz="1200"/>
              <a:t> x=56 m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v=v0+at </a:t>
            </a:r>
            <a:r>
              <a:rPr lang="zh-CN" altLang="en-US" sz="1200"/>
              <a:t>可得</a:t>
            </a:r>
            <a:r>
              <a:rPr lang="en-US" altLang="zh-CN" sz="1200"/>
              <a:t> v=10+2</a:t>
            </a:r>
            <a:r>
              <a:rPr lang="zh-CN" altLang="en-US" sz="1200"/>
              <a:t>×</a:t>
            </a:r>
            <a:r>
              <a:rPr lang="en-US" altLang="zh-CN" sz="1200"/>
              <a:t>4=18 m/s</a:t>
            </a:r>
            <a:r>
              <a:rPr lang="zh-CN" altLang="en-US" sz="1200"/>
              <a:t>；根据</a:t>
            </a:r>
            <a:r>
              <a:rPr lang="en-US" altLang="zh-CN" sz="1200"/>
              <a:t> x=v0t+(1/2)at² </a:t>
            </a:r>
            <a:r>
              <a:rPr lang="zh-CN" altLang="en-US" sz="1200"/>
              <a:t>可得</a:t>
            </a:r>
            <a:r>
              <a:rPr lang="en-US" altLang="zh-CN" sz="1200"/>
              <a:t> x=10</a:t>
            </a:r>
            <a:r>
              <a:rPr lang="zh-CN" altLang="en-US" sz="1200"/>
              <a:t>×</a:t>
            </a:r>
            <a:r>
              <a:rPr lang="en-US" altLang="zh-CN" sz="1200"/>
              <a:t>4+(1/2)</a:t>
            </a:r>
            <a:r>
              <a:rPr lang="zh-CN" altLang="en-US" sz="1200"/>
              <a:t>×</a:t>
            </a:r>
            <a:r>
              <a:rPr lang="en-US" altLang="zh-CN" sz="1200"/>
              <a:t>2</a:t>
            </a:r>
            <a:r>
              <a:rPr lang="zh-CN" altLang="en-US" sz="1200"/>
              <a:t>×</a:t>
            </a:r>
            <a:r>
              <a:rPr lang="en-US" altLang="zh-CN" sz="1200"/>
              <a:t>16=56 m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本题属于</a:t>
            </a:r>
            <a:r>
              <a:rPr lang="en-US" altLang="zh-CN" sz="1200"/>
              <a:t>“</a:t>
            </a:r>
            <a:r>
              <a:rPr lang="zh-CN" altLang="en-US" sz="1200"/>
              <a:t>匀变速直线运动基本公式模型</a:t>
            </a:r>
            <a:r>
              <a:rPr lang="en-US" altLang="zh-CN" sz="1200"/>
              <a:t>”</a:t>
            </a:r>
            <a:r>
              <a:rPr lang="zh-CN" altLang="en-US" sz="1200"/>
              <a:t>：汽车从初速度</a:t>
            </a:r>
            <a:r>
              <a:rPr lang="en-US" altLang="zh-CN" sz="1200"/>
              <a:t> 10 m/s </a:t>
            </a:r>
            <a:r>
              <a:rPr lang="zh-CN" altLang="en-US" sz="1200"/>
              <a:t>开始，每秒速度增加</a:t>
            </a:r>
            <a:r>
              <a:rPr lang="en-US" altLang="zh-CN" sz="1200"/>
              <a:t> 2 m/s</a:t>
            </a:r>
            <a:r>
              <a:rPr lang="zh-CN" altLang="en-US" sz="1200"/>
              <a:t>，</a:t>
            </a:r>
            <a:r>
              <a:rPr lang="en-US" altLang="zh-CN" sz="1200"/>
              <a:t>4 s </a:t>
            </a:r>
            <a:r>
              <a:rPr lang="zh-CN" altLang="en-US" sz="1200"/>
              <a:t>后速度变为</a:t>
            </a:r>
            <a:r>
              <a:rPr lang="en-US" altLang="zh-CN" sz="1200"/>
              <a:t> 18 m/s</a:t>
            </a:r>
            <a:r>
              <a:rPr lang="zh-CN" altLang="en-US" sz="1200"/>
              <a:t>，位移为</a:t>
            </a:r>
            <a:r>
              <a:rPr lang="en-US" altLang="zh-CN" sz="1200"/>
              <a:t> 56 m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动手验证方案：用小车、打点计时器、纸带和刻度尺。让小车以约</a:t>
            </a:r>
            <a:r>
              <a:rPr lang="en-US" altLang="zh-CN" sz="1200"/>
              <a:t> 10 m/s </a:t>
            </a:r>
            <a:r>
              <a:rPr lang="zh-CN" altLang="en-US" sz="1200"/>
              <a:t>的初速度做匀加速运动，加速度调为约</a:t>
            </a:r>
            <a:r>
              <a:rPr lang="en-US" altLang="zh-CN" sz="1200"/>
              <a:t> 2 m/s²</a:t>
            </a:r>
            <a:r>
              <a:rPr lang="zh-CN" altLang="en-US" sz="1200"/>
              <a:t>，记录</a:t>
            </a:r>
            <a:r>
              <a:rPr lang="en-US" altLang="zh-CN" sz="1200"/>
              <a:t> 4 s </a:t>
            </a:r>
            <a:r>
              <a:rPr lang="zh-CN" altLang="en-US" sz="1200"/>
              <a:t>内纸带点迹，测出位移应约为</a:t>
            </a:r>
            <a:r>
              <a:rPr lang="en-US" altLang="zh-CN" sz="1200"/>
              <a:t> 56 m</a:t>
            </a:r>
            <a:r>
              <a:rPr lang="zh-CN" altLang="en-US" sz="1200"/>
              <a:t>，末速度应约为</a:t>
            </a:r>
            <a:r>
              <a:rPr lang="en-US" altLang="zh-CN" sz="1200"/>
              <a:t> 18 m/s</a:t>
            </a:r>
            <a:r>
              <a:rPr lang="zh-CN" altLang="en-US" sz="1200"/>
              <a:t>。预期现象：纸带点距逐渐变大，</a:t>
            </a:r>
            <a:r>
              <a:rPr lang="en-US" altLang="zh-CN" sz="1200"/>
              <a:t>4 s </a:t>
            </a:r>
            <a:r>
              <a:rPr lang="zh-CN" altLang="en-US" sz="1200"/>
              <a:t>末速度明显大于初速度。</a:t>
            </a:r>
            <a:r>
              <a:rPr lang="en-US" altLang="zh-CN" sz="1200"/>
              <a:t>
</a:t>
            </a:r>
            <a:r>
              <a:rPr lang="zh-CN" altLang="en-US" sz="1200"/>
              <a:t>【答案】</a:t>
            </a:r>
            <a:r>
              <a:rPr lang="en-US" altLang="zh-CN" sz="1200"/>
              <a:t>4 s </a:t>
            </a:r>
            <a:r>
              <a:rPr lang="zh-CN" altLang="en-US" sz="1200"/>
              <a:t>内的位移为</a:t>
            </a:r>
            <a:r>
              <a:rPr lang="en-US" altLang="zh-CN" sz="1200"/>
              <a:t> 56 m</a:t>
            </a:r>
            <a:r>
              <a:rPr lang="zh-CN" altLang="en-US" sz="1200"/>
              <a:t>；</a:t>
            </a:r>
            <a:r>
              <a:rPr lang="en-US" altLang="zh-CN" sz="1200"/>
              <a:t>4 s </a:t>
            </a:r>
            <a:r>
              <a:rPr lang="zh-CN" altLang="en-US" sz="1200"/>
              <a:t>末的速度为</a:t>
            </a:r>
            <a:r>
              <a:rPr lang="en-US" altLang="zh-CN" sz="1200"/>
              <a:t> 18 m/s</a:t>
            </a:r>
            <a:r>
              <a:rPr lang="zh-CN" altLang="en-US" sz="1200"/>
              <a:t>，方向与初速度方向相同。</a:t>
            </a:r>
            <a:r>
              <a:rPr lang="en-US" altLang="zh-CN" sz="1200"/>
              <a:t>
</a:t>
            </a:r>
            <a:r>
              <a:rPr lang="zh-CN" altLang="en-US" sz="1200"/>
              <a:t>【自检】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量纲检查：</a:t>
            </a:r>
            <a:r>
              <a:rPr lang="en-US" altLang="zh-CN" sz="1200"/>
              <a:t>v=v0+at </a:t>
            </a:r>
            <a:r>
              <a:rPr lang="zh-CN" altLang="en-US" sz="1200"/>
              <a:t>中</a:t>
            </a:r>
            <a:r>
              <a:rPr lang="en-US" altLang="zh-CN" sz="1200"/>
              <a:t> m/s + (m/s²)·s = m/s</a:t>
            </a:r>
            <a:r>
              <a:rPr lang="zh-CN" altLang="en-US" sz="1200"/>
              <a:t>，量纲正确；</a:t>
            </a:r>
            <a:r>
              <a:rPr lang="en-US" altLang="zh-CN" sz="1200"/>
              <a:t>x=v0t+(1/2)at² </a:t>
            </a:r>
            <a:r>
              <a:rPr lang="zh-CN" altLang="en-US" sz="1200"/>
              <a:t>中</a:t>
            </a:r>
            <a:r>
              <a:rPr lang="en-US" altLang="zh-CN" sz="1200"/>
              <a:t> (m/s)·s + (m/s²)·s² = m</a:t>
            </a:r>
            <a:r>
              <a:rPr lang="zh-CN" altLang="en-US" sz="1200"/>
              <a:t>，量纲正确。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回代验算：由</a:t>
            </a:r>
            <a:r>
              <a:rPr lang="en-US" altLang="zh-CN" sz="1200"/>
              <a:t> v=v0+at </a:t>
            </a:r>
            <a:r>
              <a:rPr lang="zh-CN" altLang="en-US" sz="1200"/>
              <a:t>得</a:t>
            </a:r>
            <a:r>
              <a:rPr lang="en-US" altLang="zh-CN" sz="1200"/>
              <a:t> a=(v-v0)/t=(18-10)/4=2 m/s²</a:t>
            </a:r>
            <a:r>
              <a:rPr lang="zh-CN" altLang="en-US" sz="1200"/>
              <a:t>，与原加速度一致；由</a:t>
            </a:r>
            <a:r>
              <a:rPr lang="en-US" altLang="zh-CN" sz="1200"/>
              <a:t> x=(v0+v)t/2=(10+18)</a:t>
            </a:r>
            <a:r>
              <a:rPr lang="zh-CN" altLang="en-US" sz="1200"/>
              <a:t>×</a:t>
            </a:r>
            <a:r>
              <a:rPr lang="en-US" altLang="zh-CN" sz="1200"/>
              <a:t>4/2=56 m</a:t>
            </a:r>
            <a:r>
              <a:rPr lang="zh-CN" altLang="en-US" sz="1200"/>
              <a:t>，与位移结果一致。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陷阱检查：本题没有</a:t>
            </a:r>
            <a:r>
              <a:rPr lang="en-US" altLang="zh-CN" sz="1200"/>
              <a:t>“10 s </a:t>
            </a:r>
            <a:r>
              <a:rPr lang="zh-CN" altLang="en-US" sz="1200"/>
              <a:t>内</a:t>
            </a:r>
            <a:r>
              <a:rPr lang="en-US" altLang="zh-CN" sz="1200"/>
              <a:t>”“</a:t>
            </a:r>
            <a:r>
              <a:rPr lang="zh-CN" altLang="en-US" sz="1200"/>
              <a:t>上升到最高点后又落回</a:t>
            </a:r>
            <a:r>
              <a:rPr lang="en-US" altLang="zh-CN" sz="1200"/>
              <a:t>”</a:t>
            </a:r>
            <a:r>
              <a:rPr lang="zh-CN" altLang="en-US" sz="1200"/>
              <a:t>等陷阱，</a:t>
            </a:r>
            <a:r>
              <a:rPr lang="en-US" altLang="zh-CN" sz="1200"/>
              <a:t>4 s </a:t>
            </a:r>
            <a:r>
              <a:rPr lang="zh-CN" altLang="en-US" sz="1200"/>
              <a:t>内一直做匀加速直线运动，位移和末速度均取</a:t>
            </a:r>
            <a:r>
              <a:rPr lang="en-US" altLang="zh-CN" sz="1200"/>
              <a:t> 4 s </a:t>
            </a:r>
            <a:r>
              <a:rPr lang="zh-CN" altLang="en-US" sz="1200"/>
              <a:t>末时刻值，未被误导。</a:t>
            </a:r>
            <a:endParaRPr lang="zh-CN" alt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T07  </a:t>
            </a:r>
            <a:r>
              <a:rPr lang="zh-CN" altLang="en-US" sz="2400" b="1"/>
              <a:t>自由落体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题目：一物体自由下落，落地时速度是</a:t>
            </a:r>
            <a:r>
              <a:rPr lang="en-US" altLang="zh-CN" sz="1200"/>
              <a:t> 30 m/s</a:t>
            </a:r>
            <a:r>
              <a:rPr lang="zh-CN" altLang="en-US" sz="1200"/>
              <a:t>，可近似看作自由落体运动，</a:t>
            </a:r>
            <a:r>
              <a:rPr lang="en-US" altLang="zh-CN" sz="1200"/>
              <a:t>g </a:t>
            </a:r>
            <a:r>
              <a:rPr lang="zh-CN" altLang="en-US" sz="1200"/>
              <a:t>取</a:t>
            </a:r>
            <a:r>
              <a:rPr lang="en-US" altLang="zh-CN" sz="1200"/>
              <a:t> 10 m/s²</a:t>
            </a:r>
            <a:r>
              <a:rPr lang="zh-CN" altLang="en-US" sz="1200"/>
              <a:t>。求：</a:t>
            </a:r>
            <a:r>
              <a:rPr lang="en-US" altLang="zh-CN" sz="1200"/>
              <a:t>(1) </a:t>
            </a:r>
            <a:r>
              <a:rPr lang="zh-CN" altLang="en-US" sz="1200"/>
              <a:t>物体落地所用总时间；</a:t>
            </a:r>
            <a:r>
              <a:rPr lang="en-US" altLang="zh-CN" sz="1200"/>
              <a:t>(2) </a:t>
            </a:r>
            <a:r>
              <a:rPr lang="zh-CN" altLang="en-US" sz="1200"/>
              <a:t>物体落地前最后</a:t>
            </a:r>
            <a:r>
              <a:rPr lang="en-US" altLang="zh-CN" sz="1200"/>
              <a:t> 1 s </a:t>
            </a:r>
            <a:r>
              <a:rPr lang="zh-CN" altLang="en-US" sz="1200"/>
              <a:t>内的位移大小。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【读题】物体自由下落，落地速度</a:t>
            </a:r>
            <a:r>
              <a:rPr lang="en-US" altLang="zh-CN" sz="1200"/>
              <a:t> 30 m/s</a:t>
            </a:r>
            <a:r>
              <a:rPr lang="zh-CN" altLang="en-US" sz="1200"/>
              <a:t>，</a:t>
            </a:r>
            <a:r>
              <a:rPr lang="en-US" altLang="zh-CN" sz="1200"/>
              <a:t>g=10 m/s²</a:t>
            </a:r>
            <a:r>
              <a:rPr lang="zh-CN" altLang="en-US" sz="1200"/>
              <a:t>，求落地总时间和落地前最后</a:t>
            </a:r>
            <a:r>
              <a:rPr lang="en-US" altLang="zh-CN" sz="1200"/>
              <a:t> 1 s </a:t>
            </a:r>
            <a:r>
              <a:rPr lang="zh-CN" altLang="en-US" sz="1200"/>
              <a:t>内的位移。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v=30 m/s</a:t>
            </a:r>
            <a:r>
              <a:rPr lang="zh-CN" altLang="en-US" sz="1200"/>
              <a:t>、</a:t>
            </a:r>
            <a:r>
              <a:rPr lang="en-US" altLang="zh-CN" sz="1200"/>
              <a:t>g=10 m/s²</a:t>
            </a:r>
            <a:r>
              <a:rPr lang="zh-CN" altLang="en-US" sz="1200"/>
              <a:t>、最后</a:t>
            </a:r>
            <a:r>
              <a:rPr lang="en-US" altLang="zh-CN" sz="1200"/>
              <a:t> 1 s</a:t>
            </a:r>
            <a:r>
              <a:rPr lang="zh-CN" altLang="en-US" sz="1200"/>
              <a:t>（把文字转成量，转完即删）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自由落体</a:t>
            </a:r>
            <a:r>
              <a:rPr lang="en-US" altLang="zh-CN" sz="1200"/>
              <a:t> v0=0</a:t>
            </a:r>
            <a:r>
              <a:rPr lang="zh-CN" altLang="en-US" sz="1200"/>
              <a:t>，</a:t>
            </a:r>
            <a:r>
              <a:rPr lang="en-US" altLang="zh-CN" sz="1200"/>
              <a:t>a=g=10 m/s²</a:t>
            </a:r>
            <a:r>
              <a:rPr lang="zh-CN" altLang="en-US" sz="1200"/>
              <a:t>，知</a:t>
            </a:r>
            <a:r>
              <a:rPr lang="en-US" altLang="zh-CN" sz="1200"/>
              <a:t> v0</a:t>
            </a:r>
            <a:r>
              <a:rPr lang="zh-CN" altLang="en-US" sz="1200"/>
              <a:t>、</a:t>
            </a:r>
            <a:r>
              <a:rPr lang="en-US" altLang="zh-CN" sz="1200"/>
              <a:t>v</a:t>
            </a:r>
            <a:r>
              <a:rPr lang="zh-CN" altLang="en-US" sz="1200"/>
              <a:t>、</a:t>
            </a:r>
            <a:r>
              <a:rPr lang="en-US" altLang="zh-CN" sz="1200"/>
              <a:t>a</a:t>
            </a:r>
            <a:r>
              <a:rPr lang="zh-CN" altLang="en-US" sz="1200"/>
              <a:t>，求</a:t>
            </a:r>
            <a:r>
              <a:rPr lang="en-US" altLang="zh-CN" sz="1200"/>
              <a:t> t
</a:t>
            </a:r>
            <a:r>
              <a:rPr lang="zh-CN" altLang="en-US" sz="1200"/>
              <a:t>由</a:t>
            </a:r>
            <a:r>
              <a:rPr lang="en-US" altLang="zh-CN" sz="1200"/>
              <a:t> v=v0+gt </a:t>
            </a:r>
            <a:r>
              <a:rPr lang="zh-CN" altLang="en-US" sz="1200"/>
              <a:t>得</a:t>
            </a:r>
            <a:r>
              <a:rPr lang="en-US" altLang="zh-CN" sz="1200"/>
              <a:t> 30=0+10t</a:t>
            </a:r>
            <a:r>
              <a:rPr lang="zh-CN" altLang="en-US" sz="1200"/>
              <a:t>，</a:t>
            </a:r>
            <a:r>
              <a:rPr lang="en-US" altLang="zh-CN" sz="1200"/>
              <a:t>t=3 s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适用条件：初速为零的匀加速直线运动，且求</a:t>
            </a:r>
            <a:r>
              <a:rPr lang="en-US" altLang="zh-CN" sz="1200"/>
              <a:t>“</a:t>
            </a:r>
            <a:r>
              <a:rPr lang="zh-CN" altLang="en-US" sz="1200"/>
              <a:t>最后</a:t>
            </a:r>
            <a:r>
              <a:rPr lang="en-US" altLang="zh-CN" sz="1200"/>
              <a:t> 1 s </a:t>
            </a:r>
            <a:r>
              <a:rPr lang="zh-CN" altLang="en-US" sz="1200"/>
              <a:t>内位移</a:t>
            </a:r>
            <a:r>
              <a:rPr lang="en-US" altLang="zh-CN" sz="1200"/>
              <a:t>”
</a:t>
            </a:r>
            <a:r>
              <a:rPr lang="zh-CN" altLang="en-US" sz="1200"/>
              <a:t>可用</a:t>
            </a:r>
            <a:r>
              <a:rPr lang="en-US" altLang="zh-CN" sz="1200"/>
              <a:t>“</a:t>
            </a:r>
            <a:r>
              <a:rPr lang="zh-CN" altLang="en-US" sz="1200"/>
              <a:t>最后</a:t>
            </a:r>
            <a:r>
              <a:rPr lang="en-US" altLang="zh-CN" sz="1200"/>
              <a:t> 1 s </a:t>
            </a:r>
            <a:r>
              <a:rPr lang="zh-CN" altLang="en-US" sz="1200"/>
              <a:t>内位移</a:t>
            </a:r>
            <a:r>
              <a:rPr lang="en-US" altLang="zh-CN" sz="1200"/>
              <a:t> = </a:t>
            </a:r>
            <a:r>
              <a:rPr lang="zh-CN" altLang="en-US" sz="1200"/>
              <a:t>总位移</a:t>
            </a:r>
            <a:r>
              <a:rPr lang="en-US" altLang="zh-CN" sz="1200"/>
              <a:t> − </a:t>
            </a:r>
            <a:r>
              <a:rPr lang="zh-CN" altLang="en-US" sz="1200"/>
              <a:t>前</a:t>
            </a:r>
            <a:r>
              <a:rPr lang="en-US" altLang="zh-CN" sz="1200"/>
              <a:t> 2 s </a:t>
            </a:r>
            <a:r>
              <a:rPr lang="zh-CN" altLang="en-US" sz="1200"/>
              <a:t>内位移</a:t>
            </a:r>
            <a:r>
              <a:rPr lang="en-US" altLang="zh-CN" sz="1200"/>
              <a:t>”
h=½gt²=½</a:t>
            </a:r>
            <a:r>
              <a:rPr lang="zh-CN" altLang="en-US" sz="1200"/>
              <a:t>×</a:t>
            </a:r>
            <a:r>
              <a:rPr lang="en-US" altLang="zh-CN" sz="1200"/>
              <a:t>10</a:t>
            </a:r>
            <a:r>
              <a:rPr lang="zh-CN" altLang="en-US" sz="1200"/>
              <a:t>×</a:t>
            </a:r>
            <a:r>
              <a:rPr lang="en-US" altLang="zh-CN" sz="1200"/>
              <a:t>3²=45 m
</a:t>
            </a:r>
            <a:r>
              <a:rPr lang="zh-CN" altLang="en-US" sz="1200"/>
              <a:t>前</a:t>
            </a:r>
            <a:r>
              <a:rPr lang="en-US" altLang="zh-CN" sz="1200"/>
              <a:t> 2 s </a:t>
            </a:r>
            <a:r>
              <a:rPr lang="zh-CN" altLang="en-US" sz="1200"/>
              <a:t>位移</a:t>
            </a:r>
            <a:r>
              <a:rPr lang="en-US" altLang="zh-CN" sz="1200"/>
              <a:t> h2=½</a:t>
            </a:r>
            <a:r>
              <a:rPr lang="zh-CN" altLang="en-US" sz="1200"/>
              <a:t>×</a:t>
            </a:r>
            <a:r>
              <a:rPr lang="en-US" altLang="zh-CN" sz="1200"/>
              <a:t>10</a:t>
            </a:r>
            <a:r>
              <a:rPr lang="zh-CN" altLang="en-US" sz="1200"/>
              <a:t>×</a:t>
            </a:r>
            <a:r>
              <a:rPr lang="en-US" altLang="zh-CN" sz="1200"/>
              <a:t>2²=20 m
</a:t>
            </a:r>
            <a:r>
              <a:rPr lang="zh-CN" altLang="en-US" sz="1200"/>
              <a:t>最后</a:t>
            </a:r>
            <a:r>
              <a:rPr lang="en-US" altLang="zh-CN" sz="1200"/>
              <a:t> 1 s </a:t>
            </a:r>
            <a:r>
              <a:rPr lang="zh-CN" altLang="en-US" sz="1200"/>
              <a:t>内位移</a:t>
            </a:r>
            <a:r>
              <a:rPr lang="en-US" altLang="zh-CN" sz="1200"/>
              <a:t> Δh=45−20=25 m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v=v0+at </a:t>
            </a:r>
            <a:r>
              <a:rPr lang="zh-CN" altLang="en-US" sz="1200"/>
              <a:t>可得</a:t>
            </a:r>
            <a:r>
              <a:rPr lang="en-US" altLang="zh-CN" sz="1200"/>
              <a:t> t=v/g=30/10=3 s</a:t>
            </a:r>
            <a:r>
              <a:rPr lang="zh-CN" altLang="en-US" sz="1200"/>
              <a:t>；根据</a:t>
            </a:r>
            <a:r>
              <a:rPr lang="en-US" altLang="zh-CN" sz="1200"/>
              <a:t> h=½gt² </a:t>
            </a:r>
            <a:r>
              <a:rPr lang="zh-CN" altLang="en-US" sz="1200"/>
              <a:t>可得</a:t>
            </a:r>
            <a:r>
              <a:rPr lang="en-US" altLang="zh-CN" sz="1200"/>
              <a:t> h=45 m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归为</a:t>
            </a:r>
            <a:r>
              <a:rPr lang="en-US" altLang="zh-CN" sz="1200"/>
              <a:t>“</a:t>
            </a:r>
            <a:r>
              <a:rPr lang="zh-CN" altLang="en-US" sz="1200"/>
              <a:t>自由落体模型</a:t>
            </a:r>
            <a:r>
              <a:rPr lang="en-US" altLang="zh-CN" sz="1200"/>
              <a:t>”</a:t>
            </a:r>
            <a:r>
              <a:rPr lang="zh-CN" altLang="en-US" sz="1200"/>
              <a:t>：初速为零、只受重力、加速度</a:t>
            </a:r>
            <a:r>
              <a:rPr lang="en-US" altLang="zh-CN" sz="1200"/>
              <a:t> g </a:t>
            </a:r>
            <a:r>
              <a:rPr lang="zh-CN" altLang="en-US" sz="1200"/>
              <a:t>的匀加速直线运动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器材：小球、刻度尺、秒表；步骤：从已知高度释放小球，测落地时间与落地速度；预期：</a:t>
            </a:r>
            <a:r>
              <a:rPr lang="en-US" altLang="zh-CN" sz="1200"/>
              <a:t>t=3 s </a:t>
            </a:r>
            <a:r>
              <a:rPr lang="zh-CN" altLang="en-US" sz="1200"/>
              <a:t>时</a:t>
            </a:r>
            <a:r>
              <a:rPr lang="en-US" altLang="zh-CN" sz="1200"/>
              <a:t> v≈30 m/s</a:t>
            </a:r>
            <a:r>
              <a:rPr lang="zh-CN" altLang="en-US" sz="1200"/>
              <a:t>，最后</a:t>
            </a:r>
            <a:r>
              <a:rPr lang="en-US" altLang="zh-CN" sz="1200"/>
              <a:t> 1 s </a:t>
            </a:r>
            <a:r>
              <a:rPr lang="zh-CN" altLang="en-US" sz="1200"/>
              <a:t>位移约</a:t>
            </a:r>
            <a:r>
              <a:rPr lang="en-US" altLang="zh-CN" sz="1200"/>
              <a:t> 25 m
</a:t>
            </a:r>
            <a:r>
              <a:rPr lang="zh-CN" altLang="en-US" sz="1200"/>
              <a:t>【答案】</a:t>
            </a:r>
            <a:r>
              <a:rPr lang="en-US" altLang="zh-CN" sz="1200"/>
              <a:t>
(1) </a:t>
            </a:r>
            <a:r>
              <a:rPr lang="zh-CN" altLang="en-US" sz="1200"/>
              <a:t>落地总时间</a:t>
            </a:r>
            <a:r>
              <a:rPr lang="en-US" altLang="zh-CN" sz="1200"/>
              <a:t> t=3 s
(2) </a:t>
            </a:r>
            <a:r>
              <a:rPr lang="zh-CN" altLang="en-US" sz="1200"/>
              <a:t>落地前最后</a:t>
            </a:r>
            <a:r>
              <a:rPr lang="en-US" altLang="zh-CN" sz="1200"/>
              <a:t> 1 s </a:t>
            </a:r>
            <a:r>
              <a:rPr lang="zh-CN" altLang="en-US" sz="1200"/>
              <a:t>内的位移大小</a:t>
            </a:r>
            <a:r>
              <a:rPr lang="en-US" altLang="zh-CN" sz="1200"/>
              <a:t> Δh=25 m
</a:t>
            </a:r>
            <a:r>
              <a:rPr lang="zh-CN" altLang="en-US" sz="1200"/>
              <a:t>【自检】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量纲检查：</a:t>
            </a:r>
            <a:r>
              <a:rPr lang="en-US" altLang="zh-CN" sz="1200"/>
              <a:t>t=v/g=(m/s)/(m/s²)=s</a:t>
            </a:r>
            <a:r>
              <a:rPr lang="zh-CN" altLang="en-US" sz="1200"/>
              <a:t>，正确；</a:t>
            </a:r>
            <a:r>
              <a:rPr lang="en-US" altLang="zh-CN" sz="1200"/>
              <a:t>Δh </a:t>
            </a:r>
            <a:r>
              <a:rPr lang="zh-CN" altLang="en-US" sz="1200"/>
              <a:t>单位为</a:t>
            </a:r>
            <a:r>
              <a:rPr lang="en-US" altLang="zh-CN" sz="1200"/>
              <a:t> m</a:t>
            </a:r>
            <a:r>
              <a:rPr lang="zh-CN" altLang="en-US" sz="1200"/>
              <a:t>，正确。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回代验算：</a:t>
            </a:r>
            <a:r>
              <a:rPr lang="en-US" altLang="zh-CN" sz="1200"/>
              <a:t>v=gt=10</a:t>
            </a:r>
            <a:r>
              <a:rPr lang="zh-CN" altLang="en-US" sz="1200"/>
              <a:t>×</a:t>
            </a:r>
            <a:r>
              <a:rPr lang="en-US" altLang="zh-CN" sz="1200"/>
              <a:t>3=30 m/s</a:t>
            </a:r>
            <a:r>
              <a:rPr lang="zh-CN" altLang="en-US" sz="1200"/>
              <a:t>，与题给落地速度一致；</a:t>
            </a:r>
            <a:r>
              <a:rPr lang="en-US" altLang="zh-CN" sz="1200"/>
              <a:t>h=½</a:t>
            </a:r>
            <a:r>
              <a:rPr lang="zh-CN" altLang="en-US" sz="1200"/>
              <a:t>×</a:t>
            </a:r>
            <a:r>
              <a:rPr lang="en-US" altLang="zh-CN" sz="1200"/>
              <a:t>10</a:t>
            </a:r>
            <a:r>
              <a:rPr lang="zh-CN" altLang="en-US" sz="1200"/>
              <a:t>×</a:t>
            </a:r>
            <a:r>
              <a:rPr lang="en-US" altLang="zh-CN" sz="1200"/>
              <a:t>3²=45 m</a:t>
            </a:r>
            <a:r>
              <a:rPr lang="zh-CN" altLang="en-US" sz="1200"/>
              <a:t>，</a:t>
            </a:r>
            <a:r>
              <a:rPr lang="en-US" altLang="zh-CN" sz="1200"/>
              <a:t>h2=½</a:t>
            </a:r>
            <a:r>
              <a:rPr lang="zh-CN" altLang="en-US" sz="1200"/>
              <a:t>×</a:t>
            </a:r>
            <a:r>
              <a:rPr lang="en-US" altLang="zh-CN" sz="1200"/>
              <a:t>10</a:t>
            </a:r>
            <a:r>
              <a:rPr lang="zh-CN" altLang="en-US" sz="1200"/>
              <a:t>×</a:t>
            </a:r>
            <a:r>
              <a:rPr lang="en-US" altLang="zh-CN" sz="1200"/>
              <a:t>2²=20 m</a:t>
            </a:r>
            <a:r>
              <a:rPr lang="zh-CN" altLang="en-US" sz="1200"/>
              <a:t>，</a:t>
            </a:r>
            <a:r>
              <a:rPr lang="en-US" altLang="zh-CN" sz="1200"/>
              <a:t>Δh=45−20=25 m</a:t>
            </a:r>
            <a:r>
              <a:rPr lang="zh-CN" altLang="en-US" sz="1200"/>
              <a:t>，回代成立。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陷阱检查：本题问</a:t>
            </a:r>
            <a:r>
              <a:rPr lang="en-US" altLang="zh-CN" sz="1200"/>
              <a:t>“</a:t>
            </a:r>
            <a:r>
              <a:rPr lang="zh-CN" altLang="en-US" sz="1200"/>
              <a:t>最后</a:t>
            </a:r>
            <a:r>
              <a:rPr lang="en-US" altLang="zh-CN" sz="1200"/>
              <a:t> 1 s </a:t>
            </a:r>
            <a:r>
              <a:rPr lang="zh-CN" altLang="en-US" sz="1200"/>
              <a:t>内位移</a:t>
            </a:r>
            <a:r>
              <a:rPr lang="en-US" altLang="zh-CN" sz="1200"/>
              <a:t>”</a:t>
            </a:r>
            <a:r>
              <a:rPr lang="zh-CN" altLang="en-US" sz="1200"/>
              <a:t>，不是总位移，已用总位移减前</a:t>
            </a:r>
            <a:r>
              <a:rPr lang="en-US" altLang="zh-CN" sz="1200"/>
              <a:t> 2 s </a:t>
            </a:r>
            <a:r>
              <a:rPr lang="zh-CN" altLang="en-US" sz="1200"/>
              <a:t>位移处理，未被</a:t>
            </a:r>
            <a:r>
              <a:rPr lang="en-US" altLang="zh-CN" sz="1200"/>
              <a:t>“</a:t>
            </a:r>
            <a:r>
              <a:rPr lang="zh-CN" altLang="en-US" sz="1200"/>
              <a:t>落地速度</a:t>
            </a:r>
            <a:r>
              <a:rPr lang="en-US" altLang="zh-CN" sz="1200"/>
              <a:t> 30 m/s”</a:t>
            </a:r>
            <a:r>
              <a:rPr lang="zh-CN" altLang="en-US" sz="1200"/>
              <a:t>直接误当成总位移。</a:t>
            </a:r>
            <a:endParaRPr lang="zh-CN" alt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T08  </a:t>
            </a:r>
            <a:r>
              <a:rPr lang="zh-CN" altLang="en-US" sz="2400" b="1"/>
              <a:t>自由落体估算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题目：为了估测井口到水面的距离，让一个小石块从井口自由落下，经过</a:t>
            </a:r>
            <a:r>
              <a:rPr lang="en-US" altLang="zh-CN" sz="1200"/>
              <a:t> 2.5 s </a:t>
            </a:r>
            <a:r>
              <a:rPr lang="zh-CN" altLang="en-US" sz="1200"/>
              <a:t>后听到石块击水声，声音在空气中的传播速度为</a:t>
            </a:r>
            <a:r>
              <a:rPr lang="en-US" altLang="zh-CN" sz="1200"/>
              <a:t> 340 m/s</a:t>
            </a:r>
            <a:r>
              <a:rPr lang="zh-CN" altLang="en-US" sz="1200"/>
              <a:t>，</a:t>
            </a:r>
            <a:r>
              <a:rPr lang="en-US" altLang="zh-CN" sz="1200"/>
              <a:t>g </a:t>
            </a:r>
            <a:r>
              <a:rPr lang="zh-CN" altLang="en-US" sz="1200"/>
              <a:t>取</a:t>
            </a:r>
            <a:r>
              <a:rPr lang="en-US" altLang="zh-CN" sz="1200"/>
              <a:t> 10 m/s²</a:t>
            </a:r>
            <a:r>
              <a:rPr lang="zh-CN" altLang="en-US" sz="1200"/>
              <a:t>。估算井口到水面的距离。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【读题】石块从井口自由下落，</a:t>
            </a:r>
            <a:r>
              <a:rPr lang="en-US" altLang="zh-CN" sz="1200"/>
              <a:t>2.5 s </a:t>
            </a:r>
            <a:r>
              <a:rPr lang="zh-CN" altLang="en-US" sz="1200"/>
              <a:t>是</a:t>
            </a:r>
            <a:r>
              <a:rPr lang="en-US" altLang="zh-CN" sz="1200"/>
              <a:t>"</a:t>
            </a:r>
            <a:r>
              <a:rPr lang="zh-CN" altLang="en-US" sz="1200"/>
              <a:t>下落时间</a:t>
            </a:r>
            <a:r>
              <a:rPr lang="en-US" altLang="zh-CN" sz="1200"/>
              <a:t> + </a:t>
            </a:r>
            <a:r>
              <a:rPr lang="zh-CN" altLang="en-US" sz="1200"/>
              <a:t>声音传回时间</a:t>
            </a:r>
            <a:r>
              <a:rPr lang="en-US" altLang="zh-CN" sz="1200"/>
              <a:t>"</a:t>
            </a:r>
            <a:r>
              <a:rPr lang="zh-CN" altLang="en-US" sz="1200"/>
              <a:t>的总时间，声速</a:t>
            </a:r>
            <a:r>
              <a:rPr lang="en-US" altLang="zh-CN" sz="1200"/>
              <a:t> 340 m/s</a:t>
            </a:r>
            <a:r>
              <a:rPr lang="zh-CN" altLang="en-US" sz="1200"/>
              <a:t>，</a:t>
            </a:r>
            <a:r>
              <a:rPr lang="en-US" altLang="zh-CN" sz="1200"/>
              <a:t>g=10 m/s²</a:t>
            </a:r>
            <a:r>
              <a:rPr lang="zh-CN" altLang="en-US" sz="1200"/>
              <a:t>，求井口到水面的距离。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</a:t>
            </a:r>
            <a:r>
              <a:rPr lang="zh-CN" altLang="en-US" sz="1200"/>
              <a:t>设井深</a:t>
            </a:r>
            <a:r>
              <a:rPr lang="en-US" altLang="zh-CN" sz="1200"/>
              <a:t> h(m)</a:t>
            </a:r>
            <a:r>
              <a:rPr lang="zh-CN" altLang="en-US" sz="1200"/>
              <a:t>；石块下落时间</a:t>
            </a:r>
            <a:r>
              <a:rPr lang="en-US" altLang="zh-CN" sz="1200"/>
              <a:t> t1(s)</a:t>
            </a:r>
            <a:r>
              <a:rPr lang="zh-CN" altLang="en-US" sz="1200"/>
              <a:t>；声音传回时间</a:t>
            </a:r>
            <a:r>
              <a:rPr lang="en-US" altLang="zh-CN" sz="1200"/>
              <a:t> t2(s)</a:t>
            </a:r>
            <a:r>
              <a:rPr lang="zh-CN" altLang="en-US" sz="1200"/>
              <a:t>；总时间</a:t>
            </a:r>
            <a:r>
              <a:rPr lang="en-US" altLang="zh-CN" sz="1200"/>
              <a:t> t1+t2=2.5 s</a:t>
            </a:r>
            <a:r>
              <a:rPr lang="zh-CN" altLang="en-US" sz="1200"/>
              <a:t>；声速</a:t>
            </a:r>
            <a:r>
              <a:rPr lang="en-US" altLang="zh-CN" sz="1200"/>
              <a:t> v</a:t>
            </a:r>
            <a:r>
              <a:rPr lang="zh-CN" altLang="en-US" sz="1200"/>
              <a:t>声</a:t>
            </a:r>
            <a:r>
              <a:rPr lang="en-US" altLang="zh-CN" sz="1200"/>
              <a:t>=340 m/s</a:t>
            </a:r>
            <a:r>
              <a:rPr lang="zh-CN" altLang="en-US" sz="1200"/>
              <a:t>；</a:t>
            </a:r>
            <a:r>
              <a:rPr lang="en-US" altLang="zh-CN" sz="1200"/>
              <a:t>g=10 m/s²</a:t>
            </a:r>
            <a:r>
              <a:rPr lang="zh-CN" altLang="en-US" sz="1200"/>
              <a:t>；石块初速</a:t>
            </a:r>
            <a:r>
              <a:rPr lang="en-US" altLang="zh-CN" sz="1200"/>
              <a:t> v0=0(</a:t>
            </a:r>
            <a:r>
              <a:rPr lang="zh-CN" altLang="en-US" sz="1200"/>
              <a:t>自由落体</a:t>
            </a:r>
            <a:r>
              <a:rPr lang="en-US" altLang="zh-CN" sz="1200"/>
              <a:t>)</a:t>
            </a:r>
            <a:r>
              <a:rPr lang="zh-CN" altLang="en-US" sz="1200"/>
              <a:t>。</a:t>
            </a:r>
            <a:r>
              <a:rPr lang="en-US" altLang="zh-CN" sz="1200"/>
              <a:t>(</a:t>
            </a:r>
            <a:r>
              <a:rPr lang="zh-CN" altLang="en-US" sz="1200"/>
              <a:t>转完即删</a:t>
            </a:r>
            <a:r>
              <a:rPr lang="en-US" altLang="zh-CN" sz="1200"/>
              <a:t>)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设井深为</a:t>
            </a:r>
            <a:r>
              <a:rPr lang="en-US" altLang="zh-CN" sz="1200"/>
              <a:t> h</a:t>
            </a:r>
            <a:r>
              <a:rPr lang="zh-CN" altLang="en-US" sz="1200"/>
              <a:t>，石块下落阶段：</a:t>
            </a:r>
            <a:r>
              <a:rPr lang="en-US" altLang="zh-CN" sz="1200"/>
              <a:t>h=(1/2)g·t1²=5t1²</a:t>
            </a:r>
            <a:r>
              <a:rPr lang="zh-CN" altLang="en-US" sz="1200"/>
              <a:t>；声音传回阶段：</a:t>
            </a:r>
            <a:r>
              <a:rPr lang="en-US" altLang="zh-CN" sz="1200"/>
              <a:t>h=v</a:t>
            </a:r>
            <a:r>
              <a:rPr lang="zh-CN" altLang="en-US" sz="1200"/>
              <a:t>声</a:t>
            </a:r>
            <a:r>
              <a:rPr lang="en-US" altLang="zh-CN" sz="1200"/>
              <a:t>·t2=340t2</a:t>
            </a:r>
            <a:r>
              <a:rPr lang="zh-CN" altLang="en-US" sz="1200"/>
              <a:t>；时间关系：</a:t>
            </a:r>
            <a:r>
              <a:rPr lang="en-US" altLang="zh-CN" sz="1200"/>
              <a:t>t1+t2=2.5</a:t>
            </a:r>
            <a:r>
              <a:rPr lang="zh-CN" altLang="en-US" sz="1200"/>
              <a:t>，即</a:t>
            </a:r>
            <a:r>
              <a:rPr lang="en-US" altLang="zh-CN" sz="1200"/>
              <a:t> t2=2.5-t1</a:t>
            </a:r>
            <a:r>
              <a:rPr lang="zh-CN" altLang="en-US" sz="1200"/>
              <a:t>。两式联立：</a:t>
            </a:r>
            <a:r>
              <a:rPr lang="en-US" altLang="zh-CN" sz="1200"/>
              <a:t>5t1²=340(2.5-t1)</a:t>
            </a:r>
            <a:r>
              <a:rPr lang="zh-CN" altLang="en-US" sz="1200"/>
              <a:t>。展开：</a:t>
            </a:r>
            <a:r>
              <a:rPr lang="en-US" altLang="zh-CN" sz="1200"/>
              <a:t>5t1²+340t1-850=0</a:t>
            </a:r>
            <a:r>
              <a:rPr lang="zh-CN" altLang="en-US" sz="1200"/>
              <a:t>，即</a:t>
            </a:r>
            <a:r>
              <a:rPr lang="en-US" altLang="zh-CN" sz="1200"/>
              <a:t> t1²+68t1-170=0</a:t>
            </a:r>
            <a:r>
              <a:rPr lang="zh-CN" altLang="en-US" sz="1200"/>
              <a:t>。解得</a:t>
            </a:r>
            <a:r>
              <a:rPr lang="en-US" altLang="zh-CN" sz="1200"/>
              <a:t> t1=[-68+√(68²+4</a:t>
            </a:r>
            <a:r>
              <a:rPr lang="zh-CN" altLang="en-US" sz="1200"/>
              <a:t>×</a:t>
            </a:r>
            <a:r>
              <a:rPr lang="en-US" altLang="zh-CN" sz="1200"/>
              <a:t>170)]/2=[-68+√(4624+680)]/2=[-68+√5304]/2</a:t>
            </a:r>
            <a:r>
              <a:rPr lang="zh-CN" altLang="en-US" sz="1200"/>
              <a:t>。</a:t>
            </a:r>
            <a:r>
              <a:rPr lang="en-US" altLang="zh-CN" sz="1200"/>
              <a:t>√5304≈72.83</a:t>
            </a:r>
            <a:r>
              <a:rPr lang="zh-CN" altLang="en-US" sz="1200"/>
              <a:t>，故</a:t>
            </a:r>
            <a:r>
              <a:rPr lang="en-US" altLang="zh-CN" sz="1200"/>
              <a:t> t1≈(72.83-68)/2≈2.415 s</a:t>
            </a:r>
            <a:r>
              <a:rPr lang="zh-CN" altLang="en-US" sz="1200"/>
              <a:t>。代回：</a:t>
            </a:r>
            <a:r>
              <a:rPr lang="en-US" altLang="zh-CN" sz="1200"/>
              <a:t>h=5t1²=5</a:t>
            </a:r>
            <a:r>
              <a:rPr lang="zh-CN" altLang="en-US" sz="1200"/>
              <a:t>×</a:t>
            </a:r>
            <a:r>
              <a:rPr lang="en-US" altLang="zh-CN" sz="1200"/>
              <a:t>2.415²≈5</a:t>
            </a:r>
            <a:r>
              <a:rPr lang="zh-CN" altLang="en-US" sz="1200"/>
              <a:t>×</a:t>
            </a:r>
            <a:r>
              <a:rPr lang="en-US" altLang="zh-CN" sz="1200"/>
              <a:t>5.832≈29.2 m</a:t>
            </a:r>
            <a:r>
              <a:rPr lang="zh-CN" altLang="en-US" sz="1200"/>
              <a:t>。</a:t>
            </a:r>
            <a:r>
              <a:rPr lang="en-US" altLang="zh-CN" sz="1200"/>
              <a:t>(</a:t>
            </a:r>
            <a:r>
              <a:rPr lang="zh-CN" altLang="en-US" sz="1200"/>
              <a:t>知三求二：下落段知</a:t>
            </a:r>
            <a:r>
              <a:rPr lang="en-US" altLang="zh-CN" sz="1200"/>
              <a:t> v0=0</a:t>
            </a:r>
            <a:r>
              <a:rPr lang="zh-CN" altLang="en-US" sz="1200"/>
              <a:t>、</a:t>
            </a:r>
            <a:r>
              <a:rPr lang="en-US" altLang="zh-CN" sz="1200"/>
              <a:t>a=g</a:t>
            </a:r>
            <a:r>
              <a:rPr lang="zh-CN" altLang="en-US" sz="1200"/>
              <a:t>、</a:t>
            </a:r>
            <a:r>
              <a:rPr lang="en-US" altLang="zh-CN" sz="1200"/>
              <a:t>t1</a:t>
            </a:r>
            <a:r>
              <a:rPr lang="zh-CN" altLang="en-US" sz="1200"/>
              <a:t>，求</a:t>
            </a:r>
            <a:r>
              <a:rPr lang="en-US" altLang="zh-CN" sz="1200"/>
              <a:t> h</a:t>
            </a:r>
            <a:r>
              <a:rPr lang="zh-CN" altLang="en-US" sz="1200"/>
              <a:t>；声音段知</a:t>
            </a:r>
            <a:r>
              <a:rPr lang="en-US" altLang="zh-CN" sz="1200"/>
              <a:t> v</a:t>
            </a:r>
            <a:r>
              <a:rPr lang="zh-CN" altLang="en-US" sz="1200"/>
              <a:t>声、</a:t>
            </a:r>
            <a:r>
              <a:rPr lang="en-US" altLang="zh-CN" sz="1200"/>
              <a:t>t2</a:t>
            </a:r>
            <a:r>
              <a:rPr lang="zh-CN" altLang="en-US" sz="1200"/>
              <a:t>，求</a:t>
            </a:r>
            <a:r>
              <a:rPr lang="en-US" altLang="zh-CN" sz="1200"/>
              <a:t> h)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(</a:t>
            </a:r>
            <a:r>
              <a:rPr lang="zh-CN" altLang="en-US" sz="1200"/>
              <a:t>本题无二级结论可直接秒，因总时间含声传时间，不能直接用</a:t>
            </a:r>
            <a:r>
              <a:rPr lang="en-US" altLang="zh-CN" sz="1200"/>
              <a:t> h=(1/2)gt²)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(</a:t>
            </a:r>
            <a:r>
              <a:rPr lang="zh-CN" altLang="en-US" sz="1200"/>
              <a:t>石块与声音均不需受力分析</a:t>
            </a:r>
            <a:r>
              <a:rPr lang="en-US" altLang="zh-CN" sz="1200"/>
              <a:t>)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(</a:t>
            </a:r>
            <a:r>
              <a:rPr lang="zh-CN" altLang="en-US" sz="1200"/>
              <a:t>无多物体系统</a:t>
            </a:r>
            <a:r>
              <a:rPr lang="en-US" altLang="zh-CN" sz="1200"/>
              <a:t>)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(</a:t>
            </a:r>
            <a:r>
              <a:rPr lang="zh-CN" altLang="en-US" sz="1200"/>
              <a:t>无平衡状态</a:t>
            </a:r>
            <a:r>
              <a:rPr lang="en-US" altLang="zh-CN" sz="1200"/>
              <a:t>)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h=(1/2)gt1² </a:t>
            </a:r>
            <a:r>
              <a:rPr lang="zh-CN" altLang="en-US" sz="1200"/>
              <a:t>与</a:t>
            </a:r>
            <a:r>
              <a:rPr lang="en-US" altLang="zh-CN" sz="1200"/>
              <a:t> h=v</a:t>
            </a:r>
            <a:r>
              <a:rPr lang="zh-CN" altLang="en-US" sz="1200"/>
              <a:t>声</a:t>
            </a:r>
            <a:r>
              <a:rPr lang="en-US" altLang="zh-CN" sz="1200"/>
              <a:t>t2 </a:t>
            </a:r>
            <a:r>
              <a:rPr lang="zh-CN" altLang="en-US" sz="1200"/>
              <a:t>及</a:t>
            </a:r>
            <a:r>
              <a:rPr lang="en-US" altLang="zh-CN" sz="1200"/>
              <a:t> t1+t2=2.5 </a:t>
            </a:r>
            <a:r>
              <a:rPr lang="zh-CN" altLang="en-US" sz="1200"/>
              <a:t>可得一元二次方程</a:t>
            </a:r>
            <a:r>
              <a:rPr lang="en-US" altLang="zh-CN" sz="1200"/>
              <a:t> t1²+68t1-170=0</a:t>
            </a:r>
            <a:r>
              <a:rPr lang="zh-CN" altLang="en-US" sz="1200"/>
              <a:t>，从而解出</a:t>
            </a:r>
            <a:r>
              <a:rPr lang="en-US" altLang="zh-CN" sz="1200"/>
              <a:t> t1 </a:t>
            </a:r>
            <a:r>
              <a:rPr lang="zh-CN" altLang="en-US" sz="1200"/>
              <a:t>与</a:t>
            </a:r>
            <a:r>
              <a:rPr lang="en-US" altLang="zh-CN" sz="1200"/>
              <a:t> h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归为</a:t>
            </a:r>
            <a:r>
              <a:rPr lang="en-US" altLang="zh-CN" sz="1200"/>
              <a:t>"</a:t>
            </a:r>
            <a:r>
              <a:rPr lang="zh-CN" altLang="en-US" sz="1200"/>
              <a:t>自由落体</a:t>
            </a:r>
            <a:r>
              <a:rPr lang="en-US" altLang="zh-CN" sz="1200"/>
              <a:t> + </a:t>
            </a:r>
            <a:r>
              <a:rPr lang="zh-CN" altLang="en-US" sz="1200"/>
              <a:t>声音传播</a:t>
            </a:r>
            <a:r>
              <a:rPr lang="en-US" altLang="zh-CN" sz="1200"/>
              <a:t>"</a:t>
            </a:r>
            <a:r>
              <a:rPr lang="zh-CN" altLang="en-US" sz="1200"/>
              <a:t>模型：理想化过程为石块仅受重力做初速为零的匀加速直线运动，声音匀速传播，忽略空气阻力与声音传播的加速过程。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器材：秒表、小石子、卷尺</a:t>
            </a:r>
            <a:r>
              <a:rPr lang="en-US" altLang="zh-CN" sz="1200"/>
              <a:t>(</a:t>
            </a:r>
            <a:r>
              <a:rPr lang="zh-CN" altLang="en-US" sz="1200"/>
              <a:t>或已知深度水池</a:t>
            </a:r>
            <a:r>
              <a:rPr lang="en-US" altLang="zh-CN" sz="1200"/>
              <a:t>)</a:t>
            </a:r>
            <a:r>
              <a:rPr lang="zh-CN" altLang="en-US" sz="1200"/>
              <a:t>。步骤：①从井口静止释放石子并同时按表；②听到击水声立即停表，读总时间</a:t>
            </a:r>
            <a:r>
              <a:rPr lang="en-US" altLang="zh-CN" sz="1200"/>
              <a:t> T</a:t>
            </a:r>
            <a:r>
              <a:rPr lang="zh-CN" altLang="en-US" sz="1200"/>
              <a:t>；③用卷尺量出井深</a:t>
            </a:r>
            <a:r>
              <a:rPr lang="en-US" altLang="zh-CN" sz="1200"/>
              <a:t> h</a:t>
            </a:r>
            <a:r>
              <a:rPr lang="zh-CN" altLang="en-US" sz="1200"/>
              <a:t>；④由</a:t>
            </a:r>
            <a:r>
              <a:rPr lang="en-US" altLang="zh-CN" sz="1200"/>
              <a:t> h=(1/2)gt1² </a:t>
            </a:r>
            <a:r>
              <a:rPr lang="zh-CN" altLang="en-US" sz="1200"/>
              <a:t>与</a:t>
            </a:r>
            <a:r>
              <a:rPr lang="en-US" altLang="zh-CN" sz="1200"/>
              <a:t> h=340(T-t1) </a:t>
            </a:r>
            <a:r>
              <a:rPr lang="zh-CN" altLang="en-US" sz="1200"/>
              <a:t>反算</a:t>
            </a:r>
            <a:r>
              <a:rPr lang="en-US" altLang="zh-CN" sz="1200"/>
              <a:t> t1 </a:t>
            </a:r>
            <a:r>
              <a:rPr lang="zh-CN" altLang="en-US" sz="1200"/>
              <a:t>并与实测比较。预期现象：实测</a:t>
            </a:r>
            <a:r>
              <a:rPr lang="en-US" altLang="zh-CN" sz="1200"/>
              <a:t> h </a:t>
            </a:r>
            <a:r>
              <a:rPr lang="zh-CN" altLang="en-US" sz="1200"/>
              <a:t>与计算值接近，误差来自反应时间。</a:t>
            </a:r>
            <a:r>
              <a:rPr lang="en-US" altLang="zh-CN" sz="1200"/>
              <a:t>
</a:t>
            </a:r>
            <a:r>
              <a:rPr lang="zh-CN" altLang="en-US" sz="1200"/>
              <a:t>【答案】井口到水面的距离约为</a:t>
            </a:r>
            <a:r>
              <a:rPr lang="en-US" altLang="zh-CN" sz="1200"/>
              <a:t> 29.2 m(</a:t>
            </a:r>
            <a:r>
              <a:rPr lang="zh-CN" altLang="en-US" sz="1200"/>
              <a:t>若忽略声音传播时间，则</a:t>
            </a:r>
            <a:r>
              <a:rPr lang="en-US" altLang="zh-CN" sz="1200"/>
              <a:t> h=(1/2)</a:t>
            </a:r>
            <a:r>
              <a:rPr lang="zh-CN" altLang="en-US" sz="1200"/>
              <a:t>×</a:t>
            </a:r>
            <a:r>
              <a:rPr lang="en-US" altLang="zh-CN" sz="1200"/>
              <a:t>10</a:t>
            </a:r>
            <a:r>
              <a:rPr lang="zh-CN" altLang="en-US" sz="1200"/>
              <a:t>×</a:t>
            </a:r>
            <a:r>
              <a:rPr lang="en-US" altLang="zh-CN" sz="1200"/>
              <a:t>2.5²=31.25 m</a:t>
            </a:r>
            <a:r>
              <a:rPr lang="zh-CN" altLang="en-US" sz="1200"/>
              <a:t>，偏大，故必须考虑声传时间</a:t>
            </a:r>
            <a:r>
              <a:rPr lang="en-US" altLang="zh-CN" sz="1200"/>
              <a:t>)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【自检】①量纲检查：</a:t>
            </a:r>
            <a:r>
              <a:rPr lang="en-US" altLang="zh-CN" sz="1200"/>
              <a:t>5t1² </a:t>
            </a:r>
            <a:r>
              <a:rPr lang="zh-CN" altLang="en-US" sz="1200"/>
              <a:t>单位为</a:t>
            </a:r>
            <a:r>
              <a:rPr lang="en-US" altLang="zh-CN" sz="1200"/>
              <a:t> m/s²·s²=m</a:t>
            </a:r>
            <a:r>
              <a:rPr lang="zh-CN" altLang="en-US" sz="1200"/>
              <a:t>，</a:t>
            </a:r>
            <a:r>
              <a:rPr lang="en-US" altLang="zh-CN" sz="1200"/>
              <a:t>340t2 </a:t>
            </a:r>
            <a:r>
              <a:rPr lang="zh-CN" altLang="en-US" sz="1200"/>
              <a:t>单位为</a:t>
            </a:r>
            <a:r>
              <a:rPr lang="en-US" altLang="zh-CN" sz="1200"/>
              <a:t> m/s·s=m</a:t>
            </a:r>
            <a:r>
              <a:rPr lang="zh-CN" altLang="en-US" sz="1200"/>
              <a:t>，一致；②回代验算：</a:t>
            </a:r>
            <a:r>
              <a:rPr lang="en-US" altLang="zh-CN" sz="1200"/>
              <a:t>t1≈2.415 s </a:t>
            </a:r>
            <a:r>
              <a:rPr lang="zh-CN" altLang="en-US" sz="1200"/>
              <a:t>时</a:t>
            </a:r>
            <a:r>
              <a:rPr lang="en-US" altLang="zh-CN" sz="1200"/>
              <a:t> h=5</a:t>
            </a:r>
            <a:r>
              <a:rPr lang="zh-CN" altLang="en-US" sz="1200"/>
              <a:t>×</a:t>
            </a:r>
            <a:r>
              <a:rPr lang="en-US" altLang="zh-CN" sz="1200"/>
              <a:t>2.415²≈29.2 m</a:t>
            </a:r>
            <a:r>
              <a:rPr lang="zh-CN" altLang="en-US" sz="1200"/>
              <a:t>，</a:t>
            </a:r>
            <a:r>
              <a:rPr lang="en-US" altLang="zh-CN" sz="1200"/>
              <a:t>t2=2.5-2.415=0.085 s</a:t>
            </a:r>
            <a:r>
              <a:rPr lang="zh-CN" altLang="en-US" sz="1200"/>
              <a:t>，</a:t>
            </a:r>
            <a:r>
              <a:rPr lang="en-US" altLang="zh-CN" sz="1200"/>
              <a:t>h=340</a:t>
            </a:r>
            <a:r>
              <a:rPr lang="zh-CN" altLang="en-US" sz="1200"/>
              <a:t>×</a:t>
            </a:r>
            <a:r>
              <a:rPr lang="en-US" altLang="zh-CN" sz="1200"/>
              <a:t>0.085≈28.9 m</a:t>
            </a:r>
            <a:r>
              <a:rPr lang="zh-CN" altLang="en-US" sz="1200"/>
              <a:t>，两者接近</a:t>
            </a:r>
            <a:r>
              <a:rPr lang="en-US" altLang="zh-CN" sz="1200"/>
              <a:t>(</a:t>
            </a:r>
            <a:r>
              <a:rPr lang="zh-CN" altLang="en-US" sz="1200"/>
              <a:t>取更精确</a:t>
            </a:r>
            <a:r>
              <a:rPr lang="en-US" altLang="zh-CN" sz="1200"/>
              <a:t> t1 </a:t>
            </a:r>
            <a:r>
              <a:rPr lang="zh-CN" altLang="en-US" sz="1200"/>
              <a:t>可完全吻合</a:t>
            </a:r>
            <a:r>
              <a:rPr lang="en-US" altLang="zh-CN" sz="1200"/>
              <a:t>)</a:t>
            </a:r>
            <a:r>
              <a:rPr lang="zh-CN" altLang="en-US" sz="1200"/>
              <a:t>；③陷阱检查：本题陷阱是</a:t>
            </a:r>
            <a:r>
              <a:rPr lang="en-US" altLang="zh-CN" sz="1200"/>
              <a:t>"2.5 s </a:t>
            </a:r>
            <a:r>
              <a:rPr lang="zh-CN" altLang="en-US" sz="1200"/>
              <a:t>内包含声音传回时间</a:t>
            </a:r>
            <a:r>
              <a:rPr lang="en-US" altLang="zh-CN" sz="1200"/>
              <a:t>"</a:t>
            </a:r>
            <a:r>
              <a:rPr lang="zh-CN" altLang="en-US" sz="1200"/>
              <a:t>，若直接用</a:t>
            </a:r>
            <a:r>
              <a:rPr lang="en-US" altLang="zh-CN" sz="1200"/>
              <a:t> h=(1/2)gt² </a:t>
            </a:r>
            <a:r>
              <a:rPr lang="zh-CN" altLang="en-US" sz="1200"/>
              <a:t>会得</a:t>
            </a:r>
            <a:r>
              <a:rPr lang="en-US" altLang="zh-CN" sz="1200"/>
              <a:t> 31.25 m</a:t>
            </a:r>
            <a:r>
              <a:rPr lang="zh-CN" altLang="en-US" sz="1200"/>
              <a:t>，偏大，已避免。</a:t>
            </a:r>
            <a:endParaRPr lang="zh-CN" alt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T09  </a:t>
            </a:r>
            <a:r>
              <a:rPr lang="zh-CN" altLang="en-US" sz="2400" b="1"/>
              <a:t>反应时间测量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题目：用直尺做反应时间测量实验：某同学捏住直尺上端，被测者手指贴在直尺下端，直尺自由下落</a:t>
            </a:r>
            <a:r>
              <a:rPr lang="en-US" altLang="zh-CN" sz="1200"/>
              <a:t> 20 cm </a:t>
            </a:r>
            <a:r>
              <a:rPr lang="zh-CN" altLang="en-US" sz="1200"/>
              <a:t>时被测者捏住直尺。</a:t>
            </a:r>
            <a:r>
              <a:rPr lang="en-US" altLang="zh-CN" sz="1200"/>
              <a:t>g </a:t>
            </a:r>
            <a:r>
              <a:rPr lang="zh-CN" altLang="en-US" sz="1200"/>
              <a:t>取</a:t>
            </a:r>
            <a:r>
              <a:rPr lang="en-US" altLang="zh-CN" sz="1200"/>
              <a:t> 10 m/s²</a:t>
            </a:r>
            <a:r>
              <a:rPr lang="zh-CN" altLang="en-US" sz="1200"/>
              <a:t>。求被测者的反应时间。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【读题】直尺自由下落</a:t>
            </a:r>
            <a:r>
              <a:rPr lang="en-US" altLang="zh-CN" sz="1200"/>
              <a:t> 20 cm</a:t>
            </a:r>
            <a:r>
              <a:rPr lang="zh-CN" altLang="en-US" sz="1200"/>
              <a:t>，</a:t>
            </a:r>
            <a:r>
              <a:rPr lang="en-US" altLang="zh-CN" sz="1200"/>
              <a:t>g=10 m/s²</a:t>
            </a:r>
            <a:r>
              <a:rPr lang="zh-CN" altLang="en-US" sz="1200"/>
              <a:t>，求被测者反应时间。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h=20 cm=0.20 m</a:t>
            </a:r>
            <a:r>
              <a:rPr lang="zh-CN" altLang="en-US" sz="1200"/>
              <a:t>、</a:t>
            </a:r>
            <a:r>
              <a:rPr lang="en-US" altLang="zh-CN" sz="1200"/>
              <a:t>g=10 m/s²</a:t>
            </a:r>
            <a:r>
              <a:rPr lang="zh-CN" altLang="en-US" sz="1200"/>
              <a:t>、直尺初速度</a:t>
            </a:r>
            <a:r>
              <a:rPr lang="en-US" altLang="zh-CN" sz="1200"/>
              <a:t> v0=0</a:t>
            </a:r>
            <a:r>
              <a:rPr lang="zh-CN" altLang="en-US" sz="1200"/>
              <a:t>、求反应时间</a:t>
            </a:r>
            <a:r>
              <a:rPr lang="en-US" altLang="zh-CN" sz="1200"/>
              <a:t> t(</a:t>
            </a:r>
            <a:r>
              <a:rPr lang="zh-CN" altLang="en-US" sz="1200"/>
              <a:t>把文字转成量，转完即删</a:t>
            </a:r>
            <a:r>
              <a:rPr lang="en-US" altLang="zh-CN" sz="1200"/>
              <a:t>)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自由落体位移公式</a:t>
            </a:r>
            <a:r>
              <a:rPr lang="en-US" altLang="zh-CN" sz="1200"/>
              <a:t> h=(1/2)gt²</a:t>
            </a:r>
            <a:r>
              <a:rPr lang="zh-CN" altLang="en-US" sz="1200"/>
              <a:t>，代入</a:t>
            </a:r>
            <a:r>
              <a:rPr lang="en-US" altLang="zh-CN" sz="1200"/>
              <a:t> 0.20=(1/2)</a:t>
            </a:r>
            <a:r>
              <a:rPr lang="zh-CN" altLang="en-US" sz="1200"/>
              <a:t>×</a:t>
            </a:r>
            <a:r>
              <a:rPr lang="en-US" altLang="zh-CN" sz="1200"/>
              <a:t>10</a:t>
            </a:r>
            <a:r>
              <a:rPr lang="zh-CN" altLang="en-US" sz="1200"/>
              <a:t>×</a:t>
            </a:r>
            <a:r>
              <a:rPr lang="en-US" altLang="zh-CN" sz="1200"/>
              <a:t>t²</a:t>
            </a:r>
            <a:r>
              <a:rPr lang="zh-CN" altLang="en-US" sz="1200"/>
              <a:t>，得</a:t>
            </a:r>
            <a:r>
              <a:rPr lang="en-US" altLang="zh-CN" sz="1200"/>
              <a:t> t²=0.04</a:t>
            </a:r>
            <a:r>
              <a:rPr lang="zh-CN" altLang="en-US" sz="1200"/>
              <a:t>，</a:t>
            </a:r>
            <a:r>
              <a:rPr lang="en-US" altLang="zh-CN" sz="1200"/>
              <a:t>t=0.2 s(</a:t>
            </a:r>
            <a:r>
              <a:rPr lang="zh-CN" altLang="en-US" sz="1200"/>
              <a:t>运动学五个量中已知</a:t>
            </a:r>
            <a:r>
              <a:rPr lang="en-US" altLang="zh-CN" sz="1200"/>
              <a:t> v0=0</a:t>
            </a:r>
            <a:r>
              <a:rPr lang="zh-CN" altLang="en-US" sz="1200"/>
              <a:t>、</a:t>
            </a:r>
            <a:r>
              <a:rPr lang="en-US" altLang="zh-CN" sz="1200"/>
              <a:t>a=g=10 m/s²</a:t>
            </a:r>
            <a:r>
              <a:rPr lang="zh-CN" altLang="en-US" sz="1200"/>
              <a:t>、</a:t>
            </a:r>
            <a:r>
              <a:rPr lang="en-US" altLang="zh-CN" sz="1200"/>
              <a:t>h=0.20 m</a:t>
            </a:r>
            <a:r>
              <a:rPr lang="zh-CN" altLang="en-US" sz="1200"/>
              <a:t>，求</a:t>
            </a:r>
            <a:r>
              <a:rPr lang="en-US" altLang="zh-CN" sz="1200"/>
              <a:t> t)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适用条件：初速度为零的匀加速直线运动，本题直尺自由下落满足条件；由</a:t>
            </a:r>
            <a:r>
              <a:rPr lang="en-US" altLang="zh-CN" sz="1200"/>
              <a:t> h=(1/2)gt² </a:t>
            </a:r>
            <a:r>
              <a:rPr lang="zh-CN" altLang="en-US" sz="1200"/>
              <a:t>直接得</a:t>
            </a:r>
            <a:r>
              <a:rPr lang="en-US" altLang="zh-CN" sz="1200"/>
              <a:t> t=√(2h/g)=√(2</a:t>
            </a:r>
            <a:r>
              <a:rPr lang="zh-CN" altLang="en-US" sz="1200"/>
              <a:t>×</a:t>
            </a:r>
            <a:r>
              <a:rPr lang="en-US" altLang="zh-CN" sz="1200"/>
              <a:t>0.20/10)=0.2 s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h=(1/2)gt² </a:t>
            </a:r>
            <a:r>
              <a:rPr lang="zh-CN" altLang="en-US" sz="1200"/>
              <a:t>可得</a:t>
            </a:r>
            <a:r>
              <a:rPr lang="en-US" altLang="zh-CN" sz="1200"/>
              <a:t> t=√(2h/g)</a:t>
            </a:r>
            <a:r>
              <a:rPr lang="zh-CN" altLang="en-US" sz="1200"/>
              <a:t>，这是自由落体位移公式的逆用</a:t>
            </a:r>
            <a:r>
              <a:rPr lang="en-US" altLang="zh-CN" sz="1200"/>
              <a:t>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本题属于自由落体模型，理想化过程为直尺只受重力、初速度为零、忽略空气阻力</a:t>
            </a:r>
            <a:r>
              <a:rPr lang="en-US" altLang="zh-CN" sz="1200"/>
              <a:t>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器材：直尺、秒表；步骤：让直尺从静止自由下落</a:t>
            </a:r>
            <a:r>
              <a:rPr lang="en-US" altLang="zh-CN" sz="1200"/>
              <a:t> 20 cm</a:t>
            </a:r>
            <a:r>
              <a:rPr lang="zh-CN" altLang="en-US" sz="1200"/>
              <a:t>，记录时间；预期现象：时间约为</a:t>
            </a:r>
            <a:r>
              <a:rPr lang="en-US" altLang="zh-CN" sz="1200"/>
              <a:t> 0.2 s</a:t>
            </a:r>
            <a:r>
              <a:rPr lang="zh-CN" altLang="en-US" sz="1200"/>
              <a:t>，与计算结果一致</a:t>
            </a:r>
            <a:r>
              <a:rPr lang="en-US" altLang="zh-CN" sz="1200"/>
              <a:t>
</a:t>
            </a:r>
            <a:r>
              <a:rPr lang="zh-CN" altLang="en-US" sz="1200"/>
              <a:t>【答案】被测者的反应时间为</a:t>
            </a:r>
            <a:r>
              <a:rPr lang="en-US" altLang="zh-CN" sz="1200"/>
              <a:t> 0.2 s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【自检】①量纲检查：</a:t>
            </a:r>
            <a:r>
              <a:rPr lang="en-US" altLang="zh-CN" sz="1200"/>
              <a:t>√(m/(m/s²))=√(s²)=s</a:t>
            </a:r>
            <a:r>
              <a:rPr lang="zh-CN" altLang="en-US" sz="1200"/>
              <a:t>，量纲正确；②回代验算：</a:t>
            </a:r>
            <a:r>
              <a:rPr lang="en-US" altLang="zh-CN" sz="1200"/>
              <a:t>h=(1/2)</a:t>
            </a:r>
            <a:r>
              <a:rPr lang="zh-CN" altLang="en-US" sz="1200"/>
              <a:t>×</a:t>
            </a:r>
            <a:r>
              <a:rPr lang="en-US" altLang="zh-CN" sz="1200"/>
              <a:t>10</a:t>
            </a:r>
            <a:r>
              <a:rPr lang="zh-CN" altLang="en-US" sz="1200"/>
              <a:t>×</a:t>
            </a:r>
            <a:r>
              <a:rPr lang="en-US" altLang="zh-CN" sz="1200"/>
              <a:t>(0.2)²=0.20 m</a:t>
            </a:r>
            <a:r>
              <a:rPr lang="zh-CN" altLang="en-US" sz="1200"/>
              <a:t>，与题给</a:t>
            </a:r>
            <a:r>
              <a:rPr lang="en-US" altLang="zh-CN" sz="1200"/>
              <a:t> 20 cm </a:t>
            </a:r>
            <a:r>
              <a:rPr lang="zh-CN" altLang="en-US" sz="1200"/>
              <a:t>一致；③陷阱检查：本题是直尺自由下落，不是</a:t>
            </a:r>
            <a:r>
              <a:rPr lang="en-US" altLang="zh-CN" sz="1200"/>
              <a:t>“</a:t>
            </a:r>
            <a:r>
              <a:rPr lang="zh-CN" altLang="en-US" sz="1200"/>
              <a:t>上升到最高点后又落回</a:t>
            </a:r>
            <a:r>
              <a:rPr lang="en-US" altLang="zh-CN" sz="1200"/>
              <a:t>”</a:t>
            </a:r>
            <a:r>
              <a:rPr lang="zh-CN" altLang="en-US" sz="1200"/>
              <a:t>，也没有</a:t>
            </a:r>
            <a:r>
              <a:rPr lang="en-US" altLang="zh-CN" sz="1200"/>
              <a:t>“10 s </a:t>
            </a:r>
            <a:r>
              <a:rPr lang="zh-CN" altLang="en-US" sz="1200"/>
              <a:t>内</a:t>
            </a:r>
            <a:r>
              <a:rPr lang="en-US" altLang="zh-CN" sz="1200"/>
              <a:t>”</a:t>
            </a:r>
            <a:r>
              <a:rPr lang="zh-CN" altLang="en-US" sz="1200"/>
              <a:t>的干扰，</a:t>
            </a:r>
            <a:r>
              <a:rPr lang="en-US" altLang="zh-CN" sz="1200"/>
              <a:t>20 cm </a:t>
            </a:r>
            <a:r>
              <a:rPr lang="zh-CN" altLang="en-US" sz="1200"/>
              <a:t>已统一为</a:t>
            </a:r>
            <a:r>
              <a:rPr lang="en-US" altLang="zh-CN" sz="1200"/>
              <a:t> 0.20 m</a:t>
            </a:r>
            <a:r>
              <a:rPr lang="zh-CN" altLang="en-US" sz="1200"/>
              <a:t>，未误用</a:t>
            </a:r>
            <a:r>
              <a:rPr lang="en-US" altLang="zh-CN" sz="1200"/>
              <a:t> 20 m</a:t>
            </a:r>
            <a:r>
              <a:rPr lang="zh-CN" altLang="en-US" sz="1200"/>
              <a:t>。</a:t>
            </a:r>
            <a:endParaRPr lang="zh-CN" alt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1000" y="254000"/>
            <a:ext cx="1143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T10  </a:t>
            </a:r>
            <a:r>
              <a:rPr lang="zh-CN" altLang="en-US" sz="2400" b="1"/>
              <a:t>初速度为零的推论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81000" y="889000"/>
            <a:ext cx="11430000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题目：一物体做初速度为零的匀加速直线运动。求：</a:t>
            </a:r>
            <a:r>
              <a:rPr lang="en-US" altLang="zh-CN" sz="1200"/>
              <a:t>(1) </a:t>
            </a:r>
            <a:r>
              <a:rPr lang="zh-CN" altLang="en-US" sz="1200"/>
              <a:t>前</a:t>
            </a:r>
            <a:r>
              <a:rPr lang="en-US" altLang="zh-CN" sz="1200"/>
              <a:t> 1 s </a:t>
            </a:r>
            <a:r>
              <a:rPr lang="zh-CN" altLang="en-US" sz="1200"/>
              <a:t>内、前</a:t>
            </a:r>
            <a:r>
              <a:rPr lang="en-US" altLang="zh-CN" sz="1200"/>
              <a:t> 2 s </a:t>
            </a:r>
            <a:r>
              <a:rPr lang="zh-CN" altLang="en-US" sz="1200"/>
              <a:t>内、前</a:t>
            </a:r>
            <a:r>
              <a:rPr lang="en-US" altLang="zh-CN" sz="1200"/>
              <a:t> 3 s </a:t>
            </a:r>
            <a:r>
              <a:rPr lang="zh-CN" altLang="en-US" sz="1200"/>
              <a:t>内位移之比；</a:t>
            </a:r>
            <a:r>
              <a:rPr lang="en-US" altLang="zh-CN" sz="1200"/>
              <a:t>(2) </a:t>
            </a:r>
            <a:r>
              <a:rPr lang="zh-CN" altLang="en-US" sz="1200"/>
              <a:t>第</a:t>
            </a:r>
            <a:r>
              <a:rPr lang="en-US" altLang="zh-CN" sz="1200"/>
              <a:t> 1 s </a:t>
            </a:r>
            <a:r>
              <a:rPr lang="zh-CN" altLang="en-US" sz="1200"/>
              <a:t>内、第</a:t>
            </a:r>
            <a:r>
              <a:rPr lang="en-US" altLang="zh-CN" sz="1200"/>
              <a:t> 2 s </a:t>
            </a:r>
            <a:r>
              <a:rPr lang="zh-CN" altLang="en-US" sz="1200"/>
              <a:t>内、第</a:t>
            </a:r>
            <a:r>
              <a:rPr lang="en-US" altLang="zh-CN" sz="1200"/>
              <a:t> 3 s </a:t>
            </a:r>
            <a:r>
              <a:rPr lang="zh-CN" altLang="en-US" sz="1200"/>
              <a:t>内位移之比。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zh-CN" sz="1200"/>
              <a:t>【读题】物体从静止开始做匀加速直线运动，求前</a:t>
            </a:r>
            <a:r>
              <a:rPr lang="en-US" altLang="zh-CN" sz="1200"/>
              <a:t> 1 s</a:t>
            </a:r>
            <a:r>
              <a:rPr lang="zh-CN" altLang="en-US" sz="1200"/>
              <a:t>、前</a:t>
            </a:r>
            <a:r>
              <a:rPr lang="en-US" altLang="zh-CN" sz="1200"/>
              <a:t> 2 s</a:t>
            </a:r>
            <a:r>
              <a:rPr lang="zh-CN" altLang="en-US" sz="1200"/>
              <a:t>、前</a:t>
            </a:r>
            <a:r>
              <a:rPr lang="en-US" altLang="zh-CN" sz="1200"/>
              <a:t> 3 s </a:t>
            </a:r>
            <a:r>
              <a:rPr lang="zh-CN" altLang="en-US" sz="1200"/>
              <a:t>内位移之比，以及第</a:t>
            </a:r>
            <a:r>
              <a:rPr lang="en-US" altLang="zh-CN" sz="1200"/>
              <a:t> 1 s</a:t>
            </a:r>
            <a:r>
              <a:rPr lang="zh-CN" altLang="en-US" sz="1200"/>
              <a:t>、第</a:t>
            </a:r>
            <a:r>
              <a:rPr lang="en-US" altLang="zh-CN" sz="1200"/>
              <a:t> 2 s</a:t>
            </a:r>
            <a:r>
              <a:rPr lang="zh-CN" altLang="en-US" sz="1200"/>
              <a:t>、第</a:t>
            </a:r>
            <a:r>
              <a:rPr lang="en-US" altLang="zh-CN" sz="1200"/>
              <a:t> 3 s </a:t>
            </a:r>
            <a:r>
              <a:rPr lang="zh-CN" altLang="en-US" sz="1200"/>
              <a:t>内位移之比。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删</a:t>
            </a:r>
            <a:r>
              <a:rPr lang="en-US" altLang="zh-CN" sz="1200"/>
              <a:t> v0=0</a:t>
            </a:r>
            <a:r>
              <a:rPr lang="zh-CN" altLang="en-US" sz="1200"/>
              <a:t>、</a:t>
            </a:r>
            <a:r>
              <a:rPr lang="en-US" altLang="zh-CN" sz="1200"/>
              <a:t>a </a:t>
            </a:r>
            <a:r>
              <a:rPr lang="zh-CN" altLang="en-US" sz="1200"/>
              <a:t>恒定、</a:t>
            </a:r>
            <a:r>
              <a:rPr lang="en-US" altLang="zh-CN" sz="1200"/>
              <a:t>t1=1 s</a:t>
            </a:r>
            <a:r>
              <a:rPr lang="zh-CN" altLang="en-US" sz="1200"/>
              <a:t>、</a:t>
            </a:r>
            <a:r>
              <a:rPr lang="en-US" altLang="zh-CN" sz="1200"/>
              <a:t>t2=2 s</a:t>
            </a:r>
            <a:r>
              <a:rPr lang="zh-CN" altLang="en-US" sz="1200"/>
              <a:t>、</a:t>
            </a:r>
            <a:r>
              <a:rPr lang="en-US" altLang="zh-CN" sz="1200"/>
              <a:t>t3=3 s</a:t>
            </a:r>
            <a:r>
              <a:rPr lang="zh-CN" altLang="en-US" sz="1200"/>
              <a:t>；求</a:t>
            </a:r>
            <a:r>
              <a:rPr lang="en-US" altLang="zh-CN" sz="1200"/>
              <a:t> x1:x2:x3 </a:t>
            </a:r>
            <a:r>
              <a:rPr lang="zh-CN" altLang="en-US" sz="1200"/>
              <a:t>与</a:t>
            </a:r>
            <a:r>
              <a:rPr lang="en-US" altLang="zh-CN" sz="1200"/>
              <a:t> xⅠ:xⅡ:xⅢ</a:t>
            </a:r>
            <a:r>
              <a:rPr lang="zh-CN" altLang="en-US" sz="1200"/>
              <a:t>（把文字转成量，转完即删）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解</a:t>
            </a:r>
            <a:r>
              <a:rPr lang="en-US" altLang="zh-CN" sz="1200"/>
              <a:t> </a:t>
            </a:r>
            <a:r>
              <a:rPr lang="zh-CN" altLang="en-US" sz="1200"/>
              <a:t>由</a:t>
            </a:r>
            <a:r>
              <a:rPr lang="en-US" altLang="zh-CN" sz="1200"/>
              <a:t> x=v0t+at²/2</a:t>
            </a:r>
            <a:r>
              <a:rPr lang="zh-CN" altLang="en-US" sz="1200"/>
              <a:t>，</a:t>
            </a:r>
            <a:r>
              <a:rPr lang="en-US" altLang="zh-CN" sz="1200"/>
              <a:t>v0=0 </a:t>
            </a:r>
            <a:r>
              <a:rPr lang="zh-CN" altLang="en-US" sz="1200"/>
              <a:t>得</a:t>
            </a:r>
            <a:r>
              <a:rPr lang="en-US" altLang="zh-CN" sz="1200"/>
              <a:t> x=at²/2</a:t>
            </a:r>
            <a:r>
              <a:rPr lang="zh-CN" altLang="en-US" sz="1200"/>
              <a:t>；已知</a:t>
            </a:r>
            <a:r>
              <a:rPr lang="en-US" altLang="zh-CN" sz="1200"/>
              <a:t> v0=0</a:t>
            </a:r>
            <a:r>
              <a:rPr lang="zh-CN" altLang="en-US" sz="1200"/>
              <a:t>、</a:t>
            </a:r>
            <a:r>
              <a:rPr lang="en-US" altLang="zh-CN" sz="1200"/>
              <a:t>a </a:t>
            </a:r>
            <a:r>
              <a:rPr lang="zh-CN" altLang="en-US" sz="1200"/>
              <a:t>恒定、</a:t>
            </a:r>
            <a:r>
              <a:rPr lang="en-US" altLang="zh-CN" sz="1200"/>
              <a:t>t</a:t>
            </a:r>
            <a:r>
              <a:rPr lang="zh-CN" altLang="en-US" sz="1200"/>
              <a:t>，求</a:t>
            </a:r>
            <a:r>
              <a:rPr lang="en-US" altLang="zh-CN" sz="1200"/>
              <a:t> x</a:t>
            </a:r>
            <a:r>
              <a:rPr lang="zh-CN" altLang="en-US" sz="1200"/>
              <a:t>（知三求二）</a:t>
            </a:r>
            <a:r>
              <a:rPr lang="en-US" altLang="zh-CN" sz="1200"/>
              <a:t>
x1=a(1)²/2=a/2</a:t>
            </a:r>
            <a:r>
              <a:rPr lang="zh-CN" altLang="en-US" sz="1200"/>
              <a:t>，</a:t>
            </a:r>
            <a:r>
              <a:rPr lang="en-US" altLang="zh-CN" sz="1200"/>
              <a:t>x2=a(2)²/2=2a</a:t>
            </a:r>
            <a:r>
              <a:rPr lang="zh-CN" altLang="en-US" sz="1200"/>
              <a:t>，</a:t>
            </a:r>
            <a:r>
              <a:rPr lang="en-US" altLang="zh-CN" sz="1200"/>
              <a:t>x3=a(3)²/2=9a/2
x1:x2:x3=(a/2):(2a):(9a/2)=1:4:9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秒</a:t>
            </a:r>
            <a:r>
              <a:rPr lang="en-US" altLang="zh-CN" sz="1200"/>
              <a:t> </a:t>
            </a:r>
            <a:r>
              <a:rPr lang="zh-CN" altLang="en-US" sz="1200"/>
              <a:t>适用条件：初速度为零的匀加速直线运动；结论：前</a:t>
            </a:r>
            <a:r>
              <a:rPr lang="en-US" altLang="zh-CN" sz="1200"/>
              <a:t> t</a:t>
            </a:r>
            <a:r>
              <a:rPr lang="zh-CN" altLang="en-US" sz="1200"/>
              <a:t>、前</a:t>
            </a:r>
            <a:r>
              <a:rPr lang="en-US" altLang="zh-CN" sz="1200"/>
              <a:t> 2t</a:t>
            </a:r>
            <a:r>
              <a:rPr lang="zh-CN" altLang="en-US" sz="1200"/>
              <a:t>、前</a:t>
            </a:r>
            <a:r>
              <a:rPr lang="en-US" altLang="zh-CN" sz="1200"/>
              <a:t> 3t </a:t>
            </a:r>
            <a:r>
              <a:rPr lang="zh-CN" altLang="en-US" sz="1200"/>
              <a:t>内位移之比为</a:t>
            </a:r>
            <a:r>
              <a:rPr lang="en-US" altLang="zh-CN" sz="1200"/>
              <a:t> 1²:2²:3²=1:4:9</a:t>
            </a:r>
            <a:r>
              <a:rPr lang="zh-CN" altLang="en-US" sz="1200"/>
              <a:t>，与②一致</a:t>
            </a:r>
            <a:r>
              <a:rPr lang="en-US" altLang="zh-CN" sz="1200"/>
              <a:t>
</a:t>
            </a:r>
            <a:r>
              <a:rPr lang="zh-CN" altLang="en-US" sz="1200"/>
              <a:t>④</a:t>
            </a:r>
            <a:r>
              <a:rPr lang="en-US" altLang="zh-CN" sz="1200"/>
              <a:t> </a:t>
            </a:r>
            <a:r>
              <a:rPr lang="zh-CN" altLang="en-US" sz="1200"/>
              <a:t>分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⑤</a:t>
            </a:r>
            <a:r>
              <a:rPr lang="en-US" altLang="zh-CN" sz="1200"/>
              <a:t> </a:t>
            </a:r>
            <a:r>
              <a:rPr lang="zh-CN" altLang="en-US" sz="1200"/>
              <a:t>合</a:t>
            </a:r>
            <a:r>
              <a:rPr lang="en-US" altLang="zh-CN" sz="1200"/>
              <a:t> </a:t>
            </a:r>
            <a:r>
              <a:rPr lang="zh-CN" altLang="en-US" sz="1200"/>
              <a:t>略</a:t>
            </a:r>
            <a:r>
              <a:rPr lang="en-US" altLang="zh-CN" sz="1200"/>
              <a:t>
</a:t>
            </a:r>
            <a:r>
              <a:rPr lang="zh-CN" altLang="en-US" sz="1200"/>
              <a:t>⑥</a:t>
            </a:r>
            <a:r>
              <a:rPr lang="en-US" altLang="zh-CN" sz="1200"/>
              <a:t> </a:t>
            </a:r>
            <a:r>
              <a:rPr lang="zh-CN" altLang="en-US" sz="1200"/>
              <a:t>列</a:t>
            </a:r>
            <a:r>
              <a:rPr lang="en-US" altLang="zh-CN" sz="1200"/>
              <a:t> </a:t>
            </a:r>
            <a:r>
              <a:rPr lang="zh-CN" altLang="en-US" sz="1200"/>
              <a:t>第</a:t>
            </a:r>
            <a:r>
              <a:rPr lang="en-US" altLang="zh-CN" sz="1200"/>
              <a:t> 1 s </a:t>
            </a:r>
            <a:r>
              <a:rPr lang="zh-CN" altLang="en-US" sz="1200"/>
              <a:t>内：</a:t>
            </a:r>
            <a:r>
              <a:rPr lang="en-US" altLang="zh-CN" sz="1200"/>
              <a:t>xⅠ=x1=a/2
</a:t>
            </a:r>
            <a:r>
              <a:rPr lang="zh-CN" altLang="en-US" sz="1200"/>
              <a:t>第</a:t>
            </a:r>
            <a:r>
              <a:rPr lang="en-US" altLang="zh-CN" sz="1200"/>
              <a:t> 2 s </a:t>
            </a:r>
            <a:r>
              <a:rPr lang="zh-CN" altLang="en-US" sz="1200"/>
              <a:t>内：</a:t>
            </a:r>
            <a:r>
              <a:rPr lang="en-US" altLang="zh-CN" sz="1200"/>
              <a:t>xⅡ=x2-x1=2a-a/2=3a/2
</a:t>
            </a:r>
            <a:r>
              <a:rPr lang="zh-CN" altLang="en-US" sz="1200"/>
              <a:t>第</a:t>
            </a:r>
            <a:r>
              <a:rPr lang="en-US" altLang="zh-CN" sz="1200"/>
              <a:t> 3 s </a:t>
            </a:r>
            <a:r>
              <a:rPr lang="zh-CN" altLang="en-US" sz="1200"/>
              <a:t>内：</a:t>
            </a:r>
            <a:r>
              <a:rPr lang="en-US" altLang="zh-CN" sz="1200"/>
              <a:t>xⅢ=x3-x2=9a/2-2a=5a/2
xⅠ:xⅡ:xⅢ=(a/2):(3a/2):(5a/2)=1:3:5
</a:t>
            </a:r>
            <a:r>
              <a:rPr lang="zh-CN" altLang="en-US" sz="1200"/>
              <a:t>⑦</a:t>
            </a:r>
            <a:r>
              <a:rPr lang="en-US" altLang="zh-CN" sz="1200"/>
              <a:t> </a:t>
            </a:r>
            <a:r>
              <a:rPr lang="zh-CN" altLang="en-US" sz="1200"/>
              <a:t>推</a:t>
            </a:r>
            <a:r>
              <a:rPr lang="en-US" altLang="zh-CN" sz="1200"/>
              <a:t> </a:t>
            </a:r>
            <a:r>
              <a:rPr lang="zh-CN" altLang="en-US" sz="1200"/>
              <a:t>根据</a:t>
            </a:r>
            <a:r>
              <a:rPr lang="en-US" altLang="zh-CN" sz="1200"/>
              <a:t> x=at²/2 </a:t>
            </a:r>
            <a:r>
              <a:rPr lang="zh-CN" altLang="en-US" sz="1200"/>
              <a:t>可得前</a:t>
            </a:r>
            <a:r>
              <a:rPr lang="en-US" altLang="zh-CN" sz="1200"/>
              <a:t> n </a:t>
            </a:r>
            <a:r>
              <a:rPr lang="zh-CN" altLang="en-US" sz="1200"/>
              <a:t>个</a:t>
            </a:r>
            <a:r>
              <a:rPr lang="en-US" altLang="zh-CN" sz="1200"/>
              <a:t> 1 s </a:t>
            </a:r>
            <a:r>
              <a:rPr lang="zh-CN" altLang="en-US" sz="1200"/>
              <a:t>内位移为</a:t>
            </a:r>
            <a:r>
              <a:rPr lang="en-US" altLang="zh-CN" sz="1200"/>
              <a:t> a/2</a:t>
            </a:r>
            <a:r>
              <a:rPr lang="zh-CN" altLang="en-US" sz="1200"/>
              <a:t>、</a:t>
            </a:r>
            <a:r>
              <a:rPr lang="en-US" altLang="zh-CN" sz="1200"/>
              <a:t>2a</a:t>
            </a:r>
            <a:r>
              <a:rPr lang="zh-CN" altLang="en-US" sz="1200"/>
              <a:t>、</a:t>
            </a:r>
            <a:r>
              <a:rPr lang="en-US" altLang="zh-CN" sz="1200"/>
              <a:t>9a/2…</a:t>
            </a:r>
            <a:r>
              <a:rPr lang="zh-CN" altLang="en-US" sz="1200"/>
              <a:t>；相邻</a:t>
            </a:r>
            <a:r>
              <a:rPr lang="en-US" altLang="zh-CN" sz="1200"/>
              <a:t> 1 s </a:t>
            </a:r>
            <a:r>
              <a:rPr lang="zh-CN" altLang="en-US" sz="1200"/>
              <a:t>内位移差为</a:t>
            </a:r>
            <a:r>
              <a:rPr lang="en-US" altLang="zh-CN" sz="1200"/>
              <a:t> aT²=a(1)²=a</a:t>
            </a:r>
            <a:r>
              <a:rPr lang="zh-CN" altLang="en-US" sz="1200"/>
              <a:t>，故第</a:t>
            </a:r>
            <a:r>
              <a:rPr lang="en-US" altLang="zh-CN" sz="1200"/>
              <a:t> 1</a:t>
            </a:r>
            <a:r>
              <a:rPr lang="zh-CN" altLang="en-US" sz="1200"/>
              <a:t>、</a:t>
            </a:r>
            <a:r>
              <a:rPr lang="en-US" altLang="zh-CN" sz="1200"/>
              <a:t>2</a:t>
            </a:r>
            <a:r>
              <a:rPr lang="zh-CN" altLang="en-US" sz="1200"/>
              <a:t>、</a:t>
            </a:r>
            <a:r>
              <a:rPr lang="en-US" altLang="zh-CN" sz="1200"/>
              <a:t>3 s </a:t>
            </a:r>
            <a:r>
              <a:rPr lang="zh-CN" altLang="en-US" sz="1200"/>
              <a:t>内位移成等差数列</a:t>
            </a:r>
            <a:r>
              <a:rPr lang="en-US" altLang="zh-CN" sz="1200"/>
              <a:t> a/2</a:t>
            </a:r>
            <a:r>
              <a:rPr lang="zh-CN" altLang="en-US" sz="1200"/>
              <a:t>、</a:t>
            </a:r>
            <a:r>
              <a:rPr lang="en-US" altLang="zh-CN" sz="1200"/>
              <a:t>3a/2</a:t>
            </a:r>
            <a:r>
              <a:rPr lang="zh-CN" altLang="en-US" sz="1200"/>
              <a:t>、</a:t>
            </a:r>
            <a:r>
              <a:rPr lang="en-US" altLang="zh-CN" sz="1200"/>
              <a:t>5a/2</a:t>
            </a:r>
            <a:r>
              <a:rPr lang="zh-CN" altLang="en-US" sz="1200"/>
              <a:t>，比为</a:t>
            </a:r>
            <a:r>
              <a:rPr lang="en-US" altLang="zh-CN" sz="1200"/>
              <a:t> 1:3:5
</a:t>
            </a:r>
            <a:r>
              <a:rPr lang="zh-CN" altLang="en-US" sz="1200"/>
              <a:t>⑧</a:t>
            </a:r>
            <a:r>
              <a:rPr lang="en-US" altLang="zh-CN" sz="1200"/>
              <a:t> </a:t>
            </a:r>
            <a:r>
              <a:rPr lang="zh-CN" altLang="en-US" sz="1200"/>
              <a:t>创</a:t>
            </a:r>
            <a:r>
              <a:rPr lang="en-US" altLang="zh-CN" sz="1200"/>
              <a:t> </a:t>
            </a:r>
            <a:r>
              <a:rPr lang="zh-CN" altLang="en-US" sz="1200"/>
              <a:t>归为</a:t>
            </a:r>
            <a:r>
              <a:rPr lang="en-US" altLang="zh-CN" sz="1200"/>
              <a:t>“</a:t>
            </a:r>
            <a:r>
              <a:rPr lang="zh-CN" altLang="en-US" sz="1200"/>
              <a:t>初速度为零的匀加速直线运动比例模型</a:t>
            </a:r>
            <a:r>
              <a:rPr lang="en-US" altLang="zh-CN" sz="1200"/>
              <a:t>”</a:t>
            </a:r>
            <a:r>
              <a:rPr lang="zh-CN" altLang="en-US" sz="1200"/>
              <a:t>：前</a:t>
            </a:r>
            <a:r>
              <a:rPr lang="en-US" altLang="zh-CN" sz="1200"/>
              <a:t> 1T</a:t>
            </a:r>
            <a:r>
              <a:rPr lang="zh-CN" altLang="en-US" sz="1200"/>
              <a:t>、前</a:t>
            </a:r>
            <a:r>
              <a:rPr lang="en-US" altLang="zh-CN" sz="1200"/>
              <a:t> 2T</a:t>
            </a:r>
            <a:r>
              <a:rPr lang="zh-CN" altLang="en-US" sz="1200"/>
              <a:t>、前</a:t>
            </a:r>
            <a:r>
              <a:rPr lang="en-US" altLang="zh-CN" sz="1200"/>
              <a:t> 3T </a:t>
            </a:r>
            <a:r>
              <a:rPr lang="zh-CN" altLang="en-US" sz="1200"/>
              <a:t>位移比</a:t>
            </a:r>
            <a:r>
              <a:rPr lang="en-US" altLang="zh-CN" sz="1200"/>
              <a:t> 1:4:9</a:t>
            </a:r>
            <a:r>
              <a:rPr lang="zh-CN" altLang="en-US" sz="1200"/>
              <a:t>；第</a:t>
            </a:r>
            <a:r>
              <a:rPr lang="en-US" altLang="zh-CN" sz="1200"/>
              <a:t> 1T</a:t>
            </a:r>
            <a:r>
              <a:rPr lang="zh-CN" altLang="en-US" sz="1200"/>
              <a:t>、第</a:t>
            </a:r>
            <a:r>
              <a:rPr lang="en-US" altLang="zh-CN" sz="1200"/>
              <a:t> 2T</a:t>
            </a:r>
            <a:r>
              <a:rPr lang="zh-CN" altLang="en-US" sz="1200"/>
              <a:t>、第</a:t>
            </a:r>
            <a:r>
              <a:rPr lang="en-US" altLang="zh-CN" sz="1200"/>
              <a:t> 3T </a:t>
            </a:r>
            <a:r>
              <a:rPr lang="zh-CN" altLang="en-US" sz="1200"/>
              <a:t>位移比</a:t>
            </a:r>
            <a:r>
              <a:rPr lang="en-US" altLang="zh-CN" sz="1200"/>
              <a:t> 1:3:5
</a:t>
            </a:r>
            <a:r>
              <a:rPr lang="zh-CN" altLang="en-US" sz="1200"/>
              <a:t>⑨</a:t>
            </a:r>
            <a:r>
              <a:rPr lang="en-US" altLang="zh-CN" sz="1200"/>
              <a:t> </a:t>
            </a:r>
            <a:r>
              <a:rPr lang="zh-CN" altLang="en-US" sz="1200"/>
              <a:t>造</a:t>
            </a:r>
            <a:r>
              <a:rPr lang="en-US" altLang="zh-CN" sz="1200"/>
              <a:t> </a:t>
            </a:r>
            <a:r>
              <a:rPr lang="zh-CN" altLang="en-US" sz="1200"/>
              <a:t>器材：斜面、小车、打点计时器、纸带、刻度尺；步骤：让小车从静止下滑，打出纸带，取相邻相等时间间隔</a:t>
            </a:r>
            <a:r>
              <a:rPr lang="en-US" altLang="zh-CN" sz="1200"/>
              <a:t> T=0.02 s</a:t>
            </a:r>
            <a:r>
              <a:rPr lang="zh-CN" altLang="en-US" sz="1200"/>
              <a:t>×</a:t>
            </a:r>
            <a:r>
              <a:rPr lang="en-US" altLang="zh-CN" sz="1200"/>
              <a:t>n </a:t>
            </a:r>
            <a:r>
              <a:rPr lang="zh-CN" altLang="en-US" sz="1200"/>
              <a:t>的位移；预期现象：前</a:t>
            </a:r>
            <a:r>
              <a:rPr lang="en-US" altLang="zh-CN" sz="1200"/>
              <a:t> 1T</a:t>
            </a:r>
            <a:r>
              <a:rPr lang="zh-CN" altLang="en-US" sz="1200"/>
              <a:t>、前</a:t>
            </a:r>
            <a:r>
              <a:rPr lang="en-US" altLang="zh-CN" sz="1200"/>
              <a:t> 2T</a:t>
            </a:r>
            <a:r>
              <a:rPr lang="zh-CN" altLang="en-US" sz="1200"/>
              <a:t>、前</a:t>
            </a:r>
            <a:r>
              <a:rPr lang="en-US" altLang="zh-CN" sz="1200"/>
              <a:t> 3T </a:t>
            </a:r>
            <a:r>
              <a:rPr lang="zh-CN" altLang="en-US" sz="1200"/>
              <a:t>位移比接近</a:t>
            </a:r>
            <a:r>
              <a:rPr lang="en-US" altLang="zh-CN" sz="1200"/>
              <a:t> 1:4:9</a:t>
            </a:r>
            <a:r>
              <a:rPr lang="zh-CN" altLang="en-US" sz="1200"/>
              <a:t>，第</a:t>
            </a:r>
            <a:r>
              <a:rPr lang="en-US" altLang="zh-CN" sz="1200"/>
              <a:t> 1T</a:t>
            </a:r>
            <a:r>
              <a:rPr lang="zh-CN" altLang="en-US" sz="1200"/>
              <a:t>、第</a:t>
            </a:r>
            <a:r>
              <a:rPr lang="en-US" altLang="zh-CN" sz="1200"/>
              <a:t> 2T</a:t>
            </a:r>
            <a:r>
              <a:rPr lang="zh-CN" altLang="en-US" sz="1200"/>
              <a:t>、第</a:t>
            </a:r>
            <a:r>
              <a:rPr lang="en-US" altLang="zh-CN" sz="1200"/>
              <a:t> 3T </a:t>
            </a:r>
            <a:r>
              <a:rPr lang="zh-CN" altLang="en-US" sz="1200"/>
              <a:t>位移比接近</a:t>
            </a:r>
            <a:r>
              <a:rPr lang="en-US" altLang="zh-CN" sz="1200"/>
              <a:t> 1:3:5
</a:t>
            </a:r>
            <a:r>
              <a:rPr lang="zh-CN" altLang="en-US" sz="1200"/>
              <a:t>【答案】</a:t>
            </a:r>
            <a:r>
              <a:rPr lang="en-US" altLang="zh-CN" sz="1200"/>
              <a:t>
(1) </a:t>
            </a:r>
            <a:r>
              <a:rPr lang="zh-CN" altLang="en-US" sz="1200"/>
              <a:t>前</a:t>
            </a:r>
            <a:r>
              <a:rPr lang="en-US" altLang="zh-CN" sz="1200"/>
              <a:t> 1 s </a:t>
            </a:r>
            <a:r>
              <a:rPr lang="zh-CN" altLang="en-US" sz="1200"/>
              <a:t>内、前</a:t>
            </a:r>
            <a:r>
              <a:rPr lang="en-US" altLang="zh-CN" sz="1200"/>
              <a:t> 2 s </a:t>
            </a:r>
            <a:r>
              <a:rPr lang="zh-CN" altLang="en-US" sz="1200"/>
              <a:t>内、前</a:t>
            </a:r>
            <a:r>
              <a:rPr lang="en-US" altLang="zh-CN" sz="1200"/>
              <a:t> 3 s </a:t>
            </a:r>
            <a:r>
              <a:rPr lang="zh-CN" altLang="en-US" sz="1200"/>
              <a:t>内位移之比为</a:t>
            </a:r>
            <a:r>
              <a:rPr lang="en-US" altLang="zh-CN" sz="1200"/>
              <a:t> 1:4:9</a:t>
            </a:r>
            <a:r>
              <a:rPr lang="zh-CN" altLang="en-US" sz="1200"/>
              <a:t>；</a:t>
            </a:r>
            <a:r>
              <a:rPr lang="en-US" altLang="zh-CN" sz="1200"/>
              <a:t>
(2) </a:t>
            </a:r>
            <a:r>
              <a:rPr lang="zh-CN" altLang="en-US" sz="1200"/>
              <a:t>第</a:t>
            </a:r>
            <a:r>
              <a:rPr lang="en-US" altLang="zh-CN" sz="1200"/>
              <a:t> 1 s </a:t>
            </a:r>
            <a:r>
              <a:rPr lang="zh-CN" altLang="en-US" sz="1200"/>
              <a:t>内、第</a:t>
            </a:r>
            <a:r>
              <a:rPr lang="en-US" altLang="zh-CN" sz="1200"/>
              <a:t> 2 s </a:t>
            </a:r>
            <a:r>
              <a:rPr lang="zh-CN" altLang="en-US" sz="1200"/>
              <a:t>内、第</a:t>
            </a:r>
            <a:r>
              <a:rPr lang="en-US" altLang="zh-CN" sz="1200"/>
              <a:t> 3 s </a:t>
            </a:r>
            <a:r>
              <a:rPr lang="zh-CN" altLang="en-US" sz="1200"/>
              <a:t>内位移之比为</a:t>
            </a:r>
            <a:r>
              <a:rPr lang="en-US" altLang="zh-CN" sz="1200"/>
              <a:t> 1:3:5</a:t>
            </a:r>
            <a:r>
              <a:rPr lang="zh-CN" altLang="en-US" sz="1200"/>
              <a:t>。</a:t>
            </a:r>
            <a:r>
              <a:rPr lang="en-US" altLang="zh-CN" sz="1200"/>
              <a:t>
</a:t>
            </a:r>
            <a:r>
              <a:rPr lang="zh-CN" altLang="en-US" sz="1200"/>
              <a:t>【自检】</a:t>
            </a:r>
            <a:r>
              <a:rPr lang="en-US" altLang="zh-CN" sz="1200"/>
              <a:t>
</a:t>
            </a:r>
            <a:r>
              <a:rPr lang="zh-CN" altLang="en-US" sz="1200"/>
              <a:t>①</a:t>
            </a:r>
            <a:r>
              <a:rPr lang="en-US" altLang="zh-CN" sz="1200"/>
              <a:t> </a:t>
            </a:r>
            <a:r>
              <a:rPr lang="zh-CN" altLang="en-US" sz="1200"/>
              <a:t>量纲检查：</a:t>
            </a:r>
            <a:r>
              <a:rPr lang="en-US" altLang="zh-CN" sz="1200"/>
              <a:t>x=at²/2</a:t>
            </a:r>
            <a:r>
              <a:rPr lang="zh-CN" altLang="en-US" sz="1200"/>
              <a:t>，单位为</a:t>
            </a:r>
            <a:r>
              <a:rPr lang="en-US" altLang="zh-CN" sz="1200"/>
              <a:t> m/s²·s²=m</a:t>
            </a:r>
            <a:r>
              <a:rPr lang="zh-CN" altLang="en-US" sz="1200"/>
              <a:t>，正确；比值无量纲。</a:t>
            </a:r>
            <a:r>
              <a:rPr lang="en-US" altLang="zh-CN" sz="1200"/>
              <a:t>
</a:t>
            </a:r>
            <a:r>
              <a:rPr lang="zh-CN" altLang="en-US" sz="1200"/>
              <a:t>②</a:t>
            </a:r>
            <a:r>
              <a:rPr lang="en-US" altLang="zh-CN" sz="1200"/>
              <a:t> </a:t>
            </a:r>
            <a:r>
              <a:rPr lang="zh-CN" altLang="en-US" sz="1200"/>
              <a:t>回代验算：取</a:t>
            </a:r>
            <a:r>
              <a:rPr lang="en-US" altLang="zh-CN" sz="1200"/>
              <a:t> a=2 m/s²</a:t>
            </a:r>
            <a:r>
              <a:rPr lang="zh-CN" altLang="en-US" sz="1200"/>
              <a:t>，则</a:t>
            </a:r>
            <a:r>
              <a:rPr lang="en-US" altLang="zh-CN" sz="1200"/>
              <a:t> x1=1 m</a:t>
            </a:r>
            <a:r>
              <a:rPr lang="zh-CN" altLang="en-US" sz="1200"/>
              <a:t>、</a:t>
            </a:r>
            <a:r>
              <a:rPr lang="en-US" altLang="zh-CN" sz="1200"/>
              <a:t>x2=4 m</a:t>
            </a:r>
            <a:r>
              <a:rPr lang="zh-CN" altLang="en-US" sz="1200"/>
              <a:t>、</a:t>
            </a:r>
            <a:r>
              <a:rPr lang="en-US" altLang="zh-CN" sz="1200"/>
              <a:t>x3=9 m</a:t>
            </a:r>
            <a:r>
              <a:rPr lang="zh-CN" altLang="en-US" sz="1200"/>
              <a:t>，比</a:t>
            </a:r>
            <a:r>
              <a:rPr lang="en-US" altLang="zh-CN" sz="1200"/>
              <a:t> 1:4:9</a:t>
            </a:r>
            <a:r>
              <a:rPr lang="zh-CN" altLang="en-US" sz="1200"/>
              <a:t>；第</a:t>
            </a:r>
            <a:r>
              <a:rPr lang="en-US" altLang="zh-CN" sz="1200"/>
              <a:t> 1 s </a:t>
            </a:r>
            <a:r>
              <a:rPr lang="zh-CN" altLang="en-US" sz="1200"/>
              <a:t>内</a:t>
            </a:r>
            <a:r>
              <a:rPr lang="en-US" altLang="zh-CN" sz="1200"/>
              <a:t> 1 m</a:t>
            </a:r>
            <a:r>
              <a:rPr lang="zh-CN" altLang="en-US" sz="1200"/>
              <a:t>、第</a:t>
            </a:r>
            <a:r>
              <a:rPr lang="en-US" altLang="zh-CN" sz="1200"/>
              <a:t> 2 s </a:t>
            </a:r>
            <a:r>
              <a:rPr lang="zh-CN" altLang="en-US" sz="1200"/>
              <a:t>内</a:t>
            </a:r>
            <a:r>
              <a:rPr lang="en-US" altLang="zh-CN" sz="1200"/>
              <a:t> 3 m</a:t>
            </a:r>
            <a:r>
              <a:rPr lang="zh-CN" altLang="en-US" sz="1200"/>
              <a:t>、第</a:t>
            </a:r>
            <a:r>
              <a:rPr lang="en-US" altLang="zh-CN" sz="1200"/>
              <a:t> 3 s </a:t>
            </a:r>
            <a:r>
              <a:rPr lang="zh-CN" altLang="en-US" sz="1200"/>
              <a:t>内</a:t>
            </a:r>
            <a:r>
              <a:rPr lang="en-US" altLang="zh-CN" sz="1200"/>
              <a:t> 5 m</a:t>
            </a:r>
            <a:r>
              <a:rPr lang="zh-CN" altLang="en-US" sz="1200"/>
              <a:t>，比</a:t>
            </a:r>
            <a:r>
              <a:rPr lang="en-US" altLang="zh-CN" sz="1200"/>
              <a:t> 1:3:5</a:t>
            </a:r>
            <a:r>
              <a:rPr lang="zh-CN" altLang="en-US" sz="1200"/>
              <a:t>，与结果一致。</a:t>
            </a:r>
            <a:r>
              <a:rPr lang="en-US" altLang="zh-CN" sz="1200"/>
              <a:t>
</a:t>
            </a:r>
            <a:r>
              <a:rPr lang="zh-CN" altLang="en-US" sz="1200"/>
              <a:t>③</a:t>
            </a:r>
            <a:r>
              <a:rPr lang="en-US" altLang="zh-CN" sz="1200"/>
              <a:t> </a:t>
            </a:r>
            <a:r>
              <a:rPr lang="zh-CN" altLang="en-US" sz="1200"/>
              <a:t>陷阱检查：本题问</a:t>
            </a:r>
            <a:r>
              <a:rPr lang="en-US" altLang="zh-CN" sz="1200"/>
              <a:t>“</a:t>
            </a:r>
            <a:r>
              <a:rPr lang="zh-CN" altLang="en-US" sz="1200"/>
              <a:t>前几秒内</a:t>
            </a:r>
            <a:r>
              <a:rPr lang="en-US" altLang="zh-CN" sz="1200"/>
              <a:t>”</a:t>
            </a:r>
            <a:r>
              <a:rPr lang="zh-CN" altLang="en-US" sz="1200"/>
              <a:t>和</a:t>
            </a:r>
            <a:r>
              <a:rPr lang="en-US" altLang="zh-CN" sz="1200"/>
              <a:t>“</a:t>
            </a:r>
            <a:r>
              <a:rPr lang="zh-CN" altLang="en-US" sz="1200"/>
              <a:t>第几秒内</a:t>
            </a:r>
            <a:r>
              <a:rPr lang="en-US" altLang="zh-CN" sz="1200"/>
              <a:t>”</a:t>
            </a:r>
            <a:r>
              <a:rPr lang="zh-CN" altLang="en-US" sz="1200"/>
              <a:t>，已区分总位移与相邻时间段位移，未把</a:t>
            </a:r>
            <a:r>
              <a:rPr lang="en-US" altLang="zh-CN" sz="1200"/>
              <a:t>“</a:t>
            </a:r>
            <a:r>
              <a:rPr lang="zh-CN" altLang="en-US" sz="1200"/>
              <a:t>第</a:t>
            </a:r>
            <a:r>
              <a:rPr lang="en-US" altLang="zh-CN" sz="1200"/>
              <a:t> 2 s </a:t>
            </a:r>
            <a:r>
              <a:rPr lang="zh-CN" altLang="en-US" sz="1200"/>
              <a:t>内</a:t>
            </a:r>
            <a:r>
              <a:rPr lang="en-US" altLang="zh-CN" sz="1200"/>
              <a:t>”</a:t>
            </a:r>
            <a:r>
              <a:rPr lang="zh-CN" altLang="en-US" sz="1200"/>
              <a:t>误算成</a:t>
            </a:r>
            <a:r>
              <a:rPr lang="en-US" altLang="zh-CN" sz="1200"/>
              <a:t>“</a:t>
            </a:r>
            <a:r>
              <a:rPr lang="zh-CN" altLang="en-US" sz="1200"/>
              <a:t>前</a:t>
            </a:r>
            <a:r>
              <a:rPr lang="en-US" altLang="zh-CN" sz="1200"/>
              <a:t> 2 s </a:t>
            </a:r>
            <a:r>
              <a:rPr lang="zh-CN" altLang="en-US" sz="1200"/>
              <a:t>内</a:t>
            </a:r>
            <a:r>
              <a:rPr lang="en-US" altLang="zh-CN" sz="1200"/>
              <a:t>”</a:t>
            </a:r>
            <a:r>
              <a:rPr lang="zh-CN" altLang="en-US" sz="1200"/>
              <a:t>。</a:t>
            </a:r>
            <a:endParaRPr lang="zh-CN" altLang="en-US" sz="1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9915</Words>
  <Application>WPS 演示</Application>
  <PresentationFormat>宽屏</PresentationFormat>
  <Paragraphs>64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15074</dc:creator>
  <cp:lastModifiedBy>盼盼～plain</cp:lastModifiedBy>
  <cp:revision>157</cp:revision>
  <dcterms:created xsi:type="dcterms:W3CDTF">2019-06-19T02:08:00Z</dcterms:created>
  <dcterms:modified xsi:type="dcterms:W3CDTF">2026-09-27T15:48:35Z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A04BF4104DAE43E1A2906B27575D4470_11</vt:lpwstr>
  </property>
</Properties>
</file>